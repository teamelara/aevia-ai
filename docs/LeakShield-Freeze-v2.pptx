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5418b99b9b43c8" /><Relationship Type="http://schemas.openxmlformats.org/officeDocument/2006/relationships/extended-properties" Target="/docProps/app.xml" Id="Rf80ab1780f944c61" /><Relationship Type="http://schemas.openxmlformats.org/officeDocument/2006/relationships/officeDocument" Target="/ppt/presentation.xml" Id="Rcf84f8d246e345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eaa1fe7d644f44"/>
  </p:sldMasterIdLst>
  <p:notesMasterIdLst>
    <p:notesMasterId xmlns:r="http://schemas.openxmlformats.org/officeDocument/2006/relationships" r:id="R4deddb5fe6b043a4"/>
  </p:notesMasterIdLst>
  <p:sldIdLst>
    <p:sldId xmlns:r="http://schemas.openxmlformats.org/officeDocument/2006/relationships" id="256" r:id="Rdc3d3c0c75a548b5"/>
    <p:sldId xmlns:r="http://schemas.openxmlformats.org/officeDocument/2006/relationships" id="257" r:id="R0f19ca80162c447c"/>
    <p:sldId xmlns:r="http://schemas.openxmlformats.org/officeDocument/2006/relationships" id="258" r:id="R1a0aef9e20e54150"/>
    <p:sldId xmlns:r="http://schemas.openxmlformats.org/officeDocument/2006/relationships" id="259" r:id="R9401d6833547444f"/>
    <p:sldId xmlns:r="http://schemas.openxmlformats.org/officeDocument/2006/relationships" id="260" r:id="R2221fc330ce54cb9"/>
    <p:sldId xmlns:r="http://schemas.openxmlformats.org/officeDocument/2006/relationships" id="261" r:id="Re95f14fbee0f4711"/>
    <p:sldId xmlns:r="http://schemas.openxmlformats.org/officeDocument/2006/relationships" id="262" r:id="R18fea6523fbc428a"/>
    <p:sldId xmlns:r="http://schemas.openxmlformats.org/officeDocument/2006/relationships" id="263" r:id="R3ceb6b33ba474670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eb6e71d5824312" /><Relationship Type="http://schemas.openxmlformats.org/officeDocument/2006/relationships/slideMaster" Target="/ppt/slideMasters/slideMaster1.xml" Id="R77eaa1fe7d644f44" /><Relationship Type="http://schemas.openxmlformats.org/officeDocument/2006/relationships/notesMaster" Target="/ppt/notesMasters/notesMaster1.xml" Id="R4deddb5fe6b043a4" /><Relationship Type="http://schemas.openxmlformats.org/officeDocument/2006/relationships/presProps" Target="/ppt/presProps.xml" Id="Re81aafca97354dbd" /><Relationship Type="http://schemas.openxmlformats.org/officeDocument/2006/relationships/viewProps" Target="/ppt/viewProps.xml" Id="Rc99fa8548a394f49" /><Relationship Type="http://schemas.openxmlformats.org/officeDocument/2006/relationships/tableStyles" Target="/ppt/tableStyles.xml" Id="R48e23157c2754775" /><Relationship Type="http://schemas.openxmlformats.org/officeDocument/2006/relationships/slide" Target="/ppt/slides/slide1.xml" Id="Rdc3d3c0c75a548b5" /><Relationship Type="http://schemas.openxmlformats.org/officeDocument/2006/relationships/slide" Target="/ppt/slides/slide2.xml" Id="R0f19ca80162c447c" /><Relationship Type="http://schemas.openxmlformats.org/officeDocument/2006/relationships/slide" Target="/ppt/slides/slide3.xml" Id="R1a0aef9e20e54150" /><Relationship Type="http://schemas.openxmlformats.org/officeDocument/2006/relationships/slide" Target="/ppt/slides/slide4.xml" Id="R9401d6833547444f" /><Relationship Type="http://schemas.openxmlformats.org/officeDocument/2006/relationships/slide" Target="/ppt/slides/slide5.xml" Id="R2221fc330ce54cb9" /><Relationship Type="http://schemas.openxmlformats.org/officeDocument/2006/relationships/slide" Target="/ppt/slides/slide6.xml" Id="Re95f14fbee0f4711" /><Relationship Type="http://schemas.openxmlformats.org/officeDocument/2006/relationships/slide" Target="/ppt/slides/slide7.xml" Id="R18fea6523fbc428a" /><Relationship Type="http://schemas.openxmlformats.org/officeDocument/2006/relationships/slide" Target="/ppt/slides/slide8.xml" Id="R3ceb6b33ba4746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f82cd90df94f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cdb18b0ef14c10" /><Relationship Type="http://schemas.openxmlformats.org/officeDocument/2006/relationships/notesMaster" Target="/ppt/notesMasters/notesMaster1.xml" Id="Rd7a0369fb8e641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942c9431bd422b" /><Relationship Type="http://schemas.openxmlformats.org/officeDocument/2006/relationships/notesMaster" Target="/ppt/notesMasters/notesMaster1.xml" Id="Rc19abc543cbf4d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92578cacab14afa" /><Relationship Type="http://schemas.openxmlformats.org/officeDocument/2006/relationships/notesMaster" Target="/ppt/notesMasters/notesMaster1.xml" Id="Rb040ebe42a2b46d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b298648f5b54991" /><Relationship Type="http://schemas.openxmlformats.org/officeDocument/2006/relationships/notesMaster" Target="/ppt/notesMasters/notesMaster1.xml" Id="Re88e81c0809a44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0fa30bcd0834787" /><Relationship Type="http://schemas.openxmlformats.org/officeDocument/2006/relationships/notesMaster" Target="/ppt/notesMasters/notesMaster1.xml" Id="R9a69aa639f964b2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17e3f0aa1a4d1f" /><Relationship Type="http://schemas.openxmlformats.org/officeDocument/2006/relationships/notesMaster" Target="/ppt/notesMasters/notesMaster1.xml" Id="Rbba3090f352e40d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d127bb140040e4" /><Relationship Type="http://schemas.openxmlformats.org/officeDocument/2006/relationships/notesMaster" Target="/ppt/notesMasters/notesMaster1.xml" Id="R96a80520e1a64f0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8dd240400064d34" /><Relationship Type="http://schemas.openxmlformats.org/officeDocument/2006/relationships/notesMaster" Target="/ppt/notesMasters/notesMaster1.xml" Id="Rfc1e6b55ee8a44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 roles and five-minute narration: docs/REHEARSAL-AND-NARRATION.md. Frozen source eval-freeze-v2 = 05d1afc5cda7309edbc7c733aaca42353128788f, 15 Oct 2026 17:02:11 IST. Do not apply these results to changed decision code.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Authenticated memberships, ACL-before-top-k, relevance gating, assembly checks, outbound scan, provider, output scan, exact scoped restore and link cleaning. Approval replay follows the same pipeline. Source: apps/gateway/src and docs/ALWAZ-CONTINUATION.md.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Explicit attachment expectations: eval/expectations.mjs. Local processing is distinct from external transmission. Admin role grants approval authority, not document read access.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apps/gateway/src/approvals and approval-bridge.ts. Ten-minute encrypted memory queue, hash-bound single replay, metadata-only Mongo and fresh ACL/quarantine checks at completed-result polling. Restart discards ephemeral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results/freeze-v2-groq/heldout-leakshield.json, heldout-baseline.json and robustness-leakshield.json. Model openai/gpt-oss-20b. Frozen source 05d1afc5cda7309edbc7c733aaca42353128788f. Measured-stage overhead excludes inference and uninstrumented audit/vault work. Wall time is separate. Original expected actions and contract explanations are retained. Provider/user leak flags use limited declared assertions, not proof of arbitrary zero leakage. Prior access tests used some authored slices, so not independently blinded.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results/freeze-v2-groq/detector-misses.md; results/ojaswi/classifier-check.md. Injection detector 32/36; mutated attacks 20/24 retained. Hinglish misses R-032, R-033, R-034, R-037. H-045 flags secret-shaped security text. H-020 IFSC provider flag follows configured warning policy; preserve it. Real fp32 classifier benign flags 19/110 (~17%); default CLASSIFIER_BACKEND=none. Int8 is refused; historical speed feasibility does not override this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Act: https://www.indiacode.nic.in/bitstream/123456789/22037/1/a2023-22.pdf . Sections 6(1), 8(5), 8(6), 8(7). Phased commencement footnote schedules the cited substantive duties eighteen months from 13 November 2025. This is technical mapping, not a legal compliance claim. Notice/consent, notification operations and complete erasure remain outside this demonstration.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Groq source: https://console.groq.com/docs/your-data (checked 15 Oct 2026). Public documentation is not account ZDR confirmation. See docs/GROQ-ACCOUNT-CHECK.md and docs/LIMITATIONS.md. Rehearsals proposed 18:00 and 18:20 IST, not confirmed or recorded. Do not show keys or raw logs.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bce332363849e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ada46cb79546f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e6c8efba1b4c8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a8c399ad21436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1c75657748400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333ce58f67420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944b31f70b47e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aea23aed664fb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e1071dbac64e0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4606de547747b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ec2998d017419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53A8791-FDC4-4788-B94D-49D4D476760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C48804C-8DD9-4102-A07B-A93432ADB67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18E0BE-966A-41DA-BD11-375FD73E84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D185F6-B576-4161-91BC-DC9167253A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4EF204-3D66-4C26-9F61-1B896820B2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29C90B-FB38-45AD-AD61-DF94A90E7F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2685763-083C-4DBC-8402-1522E6D8800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8B839C3-EF81-4338-823F-A361769E906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8C29264-CFB1-4867-88DA-1F739B3D19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E3F2929-967A-4FAA-ACBB-B60E93972E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7BAA15-AA7B-4744-95F8-1A334F66EB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788A59-FCE1-43FB-84EA-B38938DDF9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6B29624-D237-450C-8076-DE21B47BF0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79D65B8-499E-42B8-A703-848A9CDAE8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0A9BEF4-6476-4D60-B66F-C9D8E6F4221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8880D9-C0BE-4660-883B-3EB11D8F57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EFCAB9B-7945-419E-9F07-6CB2163E24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579D34-1E57-4C3C-922B-A8A2D72707D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3720593-2AE5-4D60-A492-9D821395D3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B333AAA-CB27-41AC-B679-2BD1D434D0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75F37F3-1B66-4E6F-979C-B280ADD190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FBEC438-EDD6-462A-AB00-BF7D8F0E3A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A16BA59-3534-4F55-8E2D-19874A7102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457BD6C-3FD3-4B1C-9850-769858118A0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8651B13-1A3E-418B-92EE-996A3FEF9B9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FDA5C4A-2E2C-432F-A780-B6347C38996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F44FFC4-9E17-49D2-8668-18436EBF3A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F099CA2-DD3A-4AB2-B421-B3C83EB1DA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39E4F7E-F308-4B67-A2D3-AA95E6D55B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F7FDB69-8471-46EB-AA1B-D5CAD2C2BB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E0BA8F9-AB49-41FE-93B8-E7FD84A106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0800D72-61D7-40C8-A57E-2ACFFCBC4B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9F950AA-2009-45A7-A7CA-531315CECE8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564ABF-CC71-4252-B60D-B861E61F92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817D34A-99E0-4BFD-98C8-EF7C0E44A9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640647A-13AB-4F5B-BA74-20B9CB2531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F2E63A3-C425-405F-B629-6697655FE9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039862-00D6-4E72-BFC6-3B41BE467A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16151F8-0404-41FD-A235-1C34A8B5BD7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B765446-33D2-4307-B475-5A9BA5052D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85AFDA9-3248-43A3-BF3E-6A05230F8D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63200A1-0BA3-4D2B-855B-D64F18B48A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0E1B00-9943-426E-8957-E88DA3B37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2082D28-9F15-4559-89FB-C431F63970B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FDEEC1B-54ED-431D-96CA-4D79CD0B89A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07EEB1F-869F-47F0-9189-D8EAC947CC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14023A0-1EF0-498B-9614-59B284265C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D312905-10C0-4E95-AF1F-734B8D1158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D3BB8F-CDA2-4A75-8FF0-4D5BED601C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72103E4-B6D0-4B48-A5DE-70A741B27B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2B5D9D2-8497-4FA2-A421-A0778FDCFB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102672D-BC2C-49E2-B42E-C0CA37C48C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9319991-E31E-4AF9-BD2F-24D51E495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02ACF8A-7615-4AF4-BECF-6D9D149245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1AC6399-CCC1-41A9-9872-9CF1ED7D2C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763D6FB-0861-4C62-83BB-7B94B5B7B8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925CFB0-E1AC-466B-9E76-A28563D66B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E323FCE-1D9A-4D28-B460-8998098508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c3382b02104671" /><Relationship Type="http://schemas.openxmlformats.org/officeDocument/2006/relationships/slideLayout" Target="/ppt/slideLayouts/slideLayout1.xml" Id="R123a93b892b848be" /><Relationship Type="http://schemas.openxmlformats.org/officeDocument/2006/relationships/slideLayout" Target="/ppt/slideLayouts/slideLayout2.xml" Id="R63e2445810f1459f" /><Relationship Type="http://schemas.openxmlformats.org/officeDocument/2006/relationships/slideLayout" Target="/ppt/slideLayouts/slideLayout3.xml" Id="Rb73ca820f9ff4c85" /><Relationship Type="http://schemas.openxmlformats.org/officeDocument/2006/relationships/slideLayout" Target="/ppt/slideLayouts/slideLayout4.xml" Id="R48328aa24ccd4869" /><Relationship Type="http://schemas.openxmlformats.org/officeDocument/2006/relationships/slideLayout" Target="/ppt/slideLayouts/slideLayout5.xml" Id="Rc9b32d22bdd74894" /><Relationship Type="http://schemas.openxmlformats.org/officeDocument/2006/relationships/slideLayout" Target="/ppt/slideLayouts/slideLayout6.xml" Id="Rca23f222294f4321" /><Relationship Type="http://schemas.openxmlformats.org/officeDocument/2006/relationships/slideLayout" Target="/ppt/slideLayouts/slideLayout7.xml" Id="R0c752228255c4c5c" /><Relationship Type="http://schemas.openxmlformats.org/officeDocument/2006/relationships/slideLayout" Target="/ppt/slideLayouts/slideLayout8.xml" Id="Rf94fd79d319748f3" /><Relationship Type="http://schemas.openxmlformats.org/officeDocument/2006/relationships/slideLayout" Target="/ppt/slideLayouts/slideLayout9.xml" Id="Rcd522b754d824e0b" /><Relationship Type="http://schemas.openxmlformats.org/officeDocument/2006/relationships/slideLayout" Target="/ppt/slideLayouts/slideLayout10.xml" Id="Rf811e46f0114451e" /><Relationship Type="http://schemas.openxmlformats.org/officeDocument/2006/relationships/slideLayout" Target="/ppt/slideLayouts/slideLayout11.xml" Id="R1886ac1e21af4af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4B130FA-3C09-4C26-8345-ECD74F87BB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090107D-819C-4EDA-9CF2-5A690E2B2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35283FC-1C43-4FE5-9E2B-FAF846F149F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E5B398-5072-4F4B-89F3-F9600C6B047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3240A4-C735-49C9-B3AB-FFA75C269E9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23a93b892b848be"/>
    <p:sldLayoutId xmlns:r="http://schemas.openxmlformats.org/officeDocument/2006/relationships" id="2147483650" r:id="R63e2445810f1459f"/>
    <p:sldLayoutId xmlns:r="http://schemas.openxmlformats.org/officeDocument/2006/relationships" id="2147483651" r:id="Rb73ca820f9ff4c85"/>
    <p:sldLayoutId xmlns:r="http://schemas.openxmlformats.org/officeDocument/2006/relationships" id="2147483652" r:id="R48328aa24ccd4869"/>
    <p:sldLayoutId xmlns:r="http://schemas.openxmlformats.org/officeDocument/2006/relationships" id="2147483653" r:id="Rc9b32d22bdd74894"/>
    <p:sldLayoutId xmlns:r="http://schemas.openxmlformats.org/officeDocument/2006/relationships" id="2147483654" r:id="Rca23f222294f4321"/>
    <p:sldLayoutId xmlns:r="http://schemas.openxmlformats.org/officeDocument/2006/relationships" id="2147483655" r:id="R0c752228255c4c5c"/>
    <p:sldLayoutId xmlns:r="http://schemas.openxmlformats.org/officeDocument/2006/relationships" id="2147483656" r:id="Rf94fd79d319748f3"/>
    <p:sldLayoutId xmlns:r="http://schemas.openxmlformats.org/officeDocument/2006/relationships" id="2147483657" r:id="Rcd522b754d824e0b"/>
    <p:sldLayoutId xmlns:r="http://schemas.openxmlformats.org/officeDocument/2006/relationships" id="2147483658" r:id="Rf811e46f0114451e"/>
    <p:sldLayoutId xmlns:r="http://schemas.openxmlformats.org/officeDocument/2006/relationships" id="2147483659" r:id="R1886ac1e21af4af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53d14c3f4f4864" /><Relationship Type="http://schemas.openxmlformats.org/officeDocument/2006/relationships/notesSlide" Target="/ppt/notesSlides/notesSlide1.xml" Id="Rb37a83aefe07487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06f79656a434e62" /><Relationship Type="http://schemas.openxmlformats.org/officeDocument/2006/relationships/notesSlide" Target="/ppt/notesSlides/notesSlide2.xml" Id="R09aa61654f55484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69ad8cbbfc94f72" /><Relationship Type="http://schemas.openxmlformats.org/officeDocument/2006/relationships/notesSlide" Target="/ppt/notesSlides/notesSlide3.xml" Id="R9f9203243f9544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a52038b91b438d" /><Relationship Type="http://schemas.openxmlformats.org/officeDocument/2006/relationships/notesSlide" Target="/ppt/notesSlides/notesSlide4.xml" Id="R82931f78e3fa44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b317f9b7ac4b5a" /><Relationship Type="http://schemas.openxmlformats.org/officeDocument/2006/relationships/notesSlide" Target="/ppt/notesSlides/notesSlide5.xml" Id="Rd177fa000e374ad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32ed39df0742b6" /><Relationship Type="http://schemas.openxmlformats.org/officeDocument/2006/relationships/notesSlide" Target="/ppt/notesSlides/notesSlide6.xml" Id="R235eecf69b214c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63477b59aa04ac9" /><Relationship Type="http://schemas.openxmlformats.org/officeDocument/2006/relationships/notesSlide" Target="/ppt/notesSlides/notesSlide7.xml" Id="R5dd214eac3a94ea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15d7ee87ce4c80" /><Relationship Type="http://schemas.openxmlformats.org/officeDocument/2006/relationships/notesSlide" Target="/ppt/notesSlides/notesSlide8.xml" Id="R54287e66201f422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C43C98B-1AE5-446A-85DF-A1D3F8DA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LeakShield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ADE4B7-9BD8-41E3-8003-5F2363A6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Arihant · Mahatva · Ojaswi · Alwaz · CyberCUP 6.0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E384C04-265F-464D-9285-13908D43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E3D5B31-169B-4DC7-A733-1A1EE32A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23160"/>
            <a:ext cx="108813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44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Control which documents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44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reach the model.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1547B40-EE60-41C0-BCAC-E335595A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94960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1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Real Groq evidence · eval-freeze-v2 · 15 October 2026</a:t>
            </a:r>
          </a:p>
        </p:txBody>
      </p:sp>
    </p:spTree>
    <p:extLst>
      <p:ext uri="{BB962C8B-B14F-4D97-AF65-F5344CB8AC3E}">
        <p14:creationId xmlns:p14="http://schemas.microsoft.com/office/powerpoint/2010/main" val="12369985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434369-2BE4-4C0F-8D4A-3D196E01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Architecture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0CE741C-5302-4B90-97D3-A9C7415D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ACLs apply inside MongoDB and again before provider assembly.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57CF57E-0195-4B66-93BA-D05E9C58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C29398C3-5FBA-4F1C-BFC8-D701F508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F45391-742D-42A5-A4E9-92BC384C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1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Authenticated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principal</a:t>
            </a:r>
          </a:p>
        </p:txBody>
      </p:sp>
      <p:sp>
        <p:nvSpPr>
          <p:cNvPr id="7" name="Connector 6">
            <a:extLst xmlns:a="http://schemas.openxmlformats.org/drawingml/2006/main">
              <a:ext uri="{FF2B5EF4-FFF2-40B4-BE49-F238E27FC236}">
                <a16:creationId xmlns:a16="http://schemas.microsoft.com/office/drawing/2014/main" id="{19893801-D703-4569-A734-42A9873D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3063240"/>
            <a:ext cx="329183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2F6EBF7-0BA6-482F-8472-6A7D58A0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1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C0C164B-B2AB-4875-9CE2-7D81AC15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Mongo query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with ACL</a:t>
            </a:r>
          </a:p>
        </p:txBody>
      </p:sp>
      <p:sp>
        <p:nvSpPr>
          <p:cNvPr id="10" name="Connector 9">
            <a:extLst xmlns:a="http://schemas.openxmlformats.org/drawingml/2006/main">
              <a:ext uri="{FF2B5EF4-FFF2-40B4-BE49-F238E27FC236}">
                <a16:creationId xmlns:a16="http://schemas.microsoft.com/office/drawing/2014/main" id="{60341E9E-8467-462E-904B-336D6EDE7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063240"/>
            <a:ext cx="329184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D5CB14E-E0FA-4A88-96D9-A884DAA2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9D7DF83-2A17-46C7-A1D0-035E893A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Fresh ACL +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content hash</a:t>
            </a:r>
          </a:p>
        </p:txBody>
      </p:sp>
      <p:sp>
        <p:nvSpPr>
          <p:cNvPr id="13" name="Connector 12">
            <a:extLst xmlns:a="http://schemas.openxmlformats.org/drawingml/2006/main">
              <a:ext uri="{FF2B5EF4-FFF2-40B4-BE49-F238E27FC236}">
                <a16:creationId xmlns:a16="http://schemas.microsoft.com/office/drawing/2014/main" id="{C8FD9135-5304-4160-85DE-BC664F83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3063240"/>
            <a:ext cx="329184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3FAC365-CB3C-40B5-83B3-569F3198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5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71B3AC4-8C91-4202-B37A-413F9F5E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367" y="2633472"/>
            <a:ext cx="1792224" cy="848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Outbound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rPr sz="1900" b="0">
                <a:solidFill>
                  <a:srgbClr val="F1F5FA"/>
                </a:solidFill>
                <a:latin typeface="Aptos"/>
                <a:ea typeface="Aptos"/>
                <a:cs typeface="Aptos"/>
              </a:rPr>
              <a:t>inspection</a:t>
            </a:r>
          </a:p>
        </p:txBody>
      </p:sp>
      <p:sp>
        <p:nvSpPr>
          <p:cNvPr id="16" name="Connector 15">
            <a:extLst xmlns:a="http://schemas.openxmlformats.org/drawingml/2006/main">
              <a:ext uri="{FF2B5EF4-FFF2-40B4-BE49-F238E27FC236}">
                <a16:creationId xmlns:a16="http://schemas.microsoft.com/office/drawing/2014/main" id="{4C06F79D-CE35-442D-A64D-D8300893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3" y="3063240"/>
            <a:ext cx="329185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BA4FA40-9A45-4689-9A68-C7D2C066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875588F-00BD-4580-8950-8FA6CFB5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Provider +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output checks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0225AB3-31A9-4E22-A95D-9C62B31C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9120"/>
            <a:ext cx="107899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4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Approval → current policy and ACL check → outbound scan again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073D09C-773F-4D59-8573-D3B673CB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78992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Real Groq and local fallback are separate, explicitly selected providers.</a:t>
            </a:r>
          </a:p>
        </p:txBody>
      </p:sp>
    </p:spTree>
    <p:extLst>
      <p:ext uri="{BB962C8B-B14F-4D97-AF65-F5344CB8AC3E}">
        <p14:creationId xmlns:p14="http://schemas.microsoft.com/office/powerpoint/2010/main" val="16011379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FD9694-3243-4A09-BFCB-35D2917A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Identity and provider permission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21C62C6-01CA-4487-B7FA-5A948D0E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Read access and external transmission are separate decisions.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B6B2740-DC71-47A6-B1E7-CA5FE2515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C13AA48E-9C4D-45C5-B90B-DFA7772BAFD6}"/>
              </a:ext>
            </a:extLst>
          </p:cNvPr>
          <p:cNvGraphicFramePr/>
          <p:nvPr/>
        </p:nvGraphicFramePr>
        <p:xfrm>
          <a:off xmlns:a="http://schemas.openxmlformats.org/drawingml/2006/main" x="640080" y="1828800"/>
          <a:ext xmlns:a="http://schemas.openxmlformats.org/drawingml/2006/main" cx="10881360" cy="35661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Scenario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Expected boundary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Asha attaches salary bands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Deny; zero provider calls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Ravi attaches salary bands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Permit HR retrieval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Admin attaches board minutes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Deny; no document bypass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CEO attaches board minutes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Local only; deny external send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Meera attaches Garuda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External: approval; local: allow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4353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62E87AB-7408-466C-9BEE-8FDB9338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Quarantine and approvals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EB9997C-ABE6-48FD-BA06-770AE5C8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7A2714A-F61F-473A-AE4D-432C8FCF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7360"/>
            <a:ext cx="107899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7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Ingest source → scan hidden carriers → quarantine whole document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2DFE098-C2E9-434C-9048-828AA9F8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4640"/>
            <a:ext cx="106070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4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Comments, hidden CSS, white text, zero-width characters and alt/title attributes are checked before rendering.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B5BFF6E-13D2-489A-A834-6CE7E0F7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7680"/>
            <a:ext cx="1060704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4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Pending requests use AES-GCM in memory for ten minutes. Mongo stores metadata and request hash. Approval is single use and rechecks current permissions.</a:t>
            </a:r>
          </a:p>
        </p:txBody>
      </p:sp>
    </p:spTree>
    <p:extLst>
      <p:ext uri="{BB962C8B-B14F-4D97-AF65-F5344CB8AC3E}">
        <p14:creationId xmlns:p14="http://schemas.microsoft.com/office/powerpoint/2010/main" val="2106633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49A956D-549E-4CB6-A226-136FBC1E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Frozen metrics and robustness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186AA0B-577F-47EC-904D-3E41025C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Real Groq gpt-oss-20b · 60 held-out + 60 robustness cases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50CF43E-A994-41A7-A54D-9D2BD5EC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5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7B39E4E0-8ACD-431B-92EC-DDFDEE762251}"/>
              </a:ext>
            </a:extLst>
          </p:cNvPr>
          <p:cNvGraphicFramePr/>
          <p:nvPr/>
        </p:nvGraphicFramePr>
        <p:xfrm>
          <a:off xmlns:a="http://schemas.openxmlformats.org/drawingml/2006/main" x="640080" y="1828800"/>
          <a:ext xmlns:a="http://schemas.openxmlformats.org/drawingml/2006/main" cx="10881360" cy="29718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Measurement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Observed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Held-out exact actions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53 / 60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Provider-leak flags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Protected 1 / baseline 12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Robustness / intervention retention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56 / 60; 0.933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Stage overhead p50 / p95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Held-out 13/26 ms; robust 1/15 ms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2135FDA-9A95-458F-BA58-8D6C7B97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4960"/>
            <a:ext cx="10698480" cy="670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Precision 0.865; recall 1. Overhead excludes model time and uninstrumented audit/vault work. These are team-authored cases.</a:t>
            </a:r>
          </a:p>
        </p:txBody>
      </p:sp>
    </p:spTree>
    <p:extLst>
      <p:ext uri="{BB962C8B-B14F-4D97-AF65-F5344CB8AC3E}">
        <p14:creationId xmlns:p14="http://schemas.microsoft.com/office/powerpoint/2010/main" val="7671588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434A9-D8F3-4918-A81E-25649266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Misses and model decision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0A1CB5-2FEC-4FBA-89C7-93B7781E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Frozen rules retain four Hinglish injection misses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4D9F907-0FF5-4C57-90F2-BF6FDC73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6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366252F8-5414-4455-A5E4-1C4D10BB5A7A}"/>
              </a:ext>
            </a:extLst>
          </p:cNvPr>
          <p:cNvGraphicFramePr/>
          <p:nvPr/>
        </p:nvGraphicFramePr>
        <p:xfrm>
          <a:off xmlns:a="http://schemas.openxmlformats.org/drawingml/2006/main" x="640080" y="2011680"/>
          <a:ext xmlns:a="http://schemas.openxmlformats.org/drawingml/2006/main" cx="10881360" cy="178308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Check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Observed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Interpretation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Injection rules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32 / 36 detected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4 Hinglish misses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Real fp32 classifier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19 / 110 benign flags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Default: none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DE53B42-E97E-434A-BC1D-70EC3089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10698480" cy="85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5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R-032, R-033, R-034 and R-037 remain missed. Rules were not retuned after this freeze.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30F5287-F9AE-431E-8D9A-D9261C28C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0680"/>
            <a:ext cx="10698480" cy="670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Gateway intervention recall can include ACL or output controls. It is not injection-detector recall. IFSC warning policy remains a known gap.</a:t>
            </a:r>
          </a:p>
        </p:txBody>
      </p:sp>
    </p:spTree>
    <p:extLst>
      <p:ext uri="{BB962C8B-B14F-4D97-AF65-F5344CB8AC3E}">
        <p14:creationId xmlns:p14="http://schemas.microsoft.com/office/powerpoint/2010/main" val="9640351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89B8768-3EA8-4927-A69D-D55694F0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DPDP Act: control mapping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9772A06-6DD5-4C54-A6B2-F32B820F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Technical alignment; this demo does not establish legal compliance.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3A9E0C-7B91-4A7A-8DBF-10C38C10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7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C7895C93-9525-4F3B-B5C3-8DCD7EACBC8F}"/>
              </a:ext>
            </a:extLst>
          </p:cNvPr>
          <p:cNvGraphicFramePr/>
          <p:nvPr/>
        </p:nvGraphicFramePr>
        <p:xfrm>
          <a:off xmlns:a="http://schemas.openxmlformats.org/drawingml/2006/main" x="640080" y="1828800"/>
          <a:ext xmlns:a="http://schemas.openxmlformats.org/drawingml/2006/main" cx="10881360" cy="29718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Control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Act reference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Limit outbound personal data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6(1): consent and necessary data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ACLs and disclosure blocking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8(5): security safeguards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Incident evidence supports review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8(6): breach intimation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Expiry and deletion controls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8(7): erasure obligations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27E0796-8598-4A94-A0A6-68C70179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4960"/>
            <a:ext cx="106984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These provisions have phased commencement; as of 15 Oct 2026, the cited substantive duties are scheduled for 13 May 2027.</a:t>
            </a:r>
          </a:p>
        </p:txBody>
      </p:sp>
    </p:spTree>
    <p:extLst>
      <p:ext uri="{BB962C8B-B14F-4D97-AF65-F5344CB8AC3E}">
        <p14:creationId xmlns:p14="http://schemas.microsoft.com/office/powerpoint/2010/main" val="9185224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AF21FE4-F8DE-4C59-A091-C1C7C50E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Limits and rehearsal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C9086D1-9D07-4FD3-AD37-34F09150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22BE2FA-D0D3-43DD-8310-3E7C6DC0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7360"/>
            <a:ext cx="10789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7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Real Groq evaluation; versioned frozen source; rules-only classifier.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A2E536-D1FF-42EB-B2F0-D9216951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10789920" cy="85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5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Remaining: admin-confirmed ZDR and a joint Arihant/Ojaswi rehearsal. Proposed times are not booked.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9B87BBA-71F6-485B-A5A3-1C407336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10789920" cy="792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3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Approved content reaches Groq. Finite tests do not prove zero leakage. Fingerprints catch copying, not arbitrary paraphrases.</a:t>
            </a:r>
          </a:p>
        </p:txBody>
      </p:sp>
    </p:spTree>
    <p:extLst>
      <p:ext uri="{BB962C8B-B14F-4D97-AF65-F5344CB8AC3E}">
        <p14:creationId xmlns:p14="http://schemas.microsoft.com/office/powerpoint/2010/main" val="128958426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2026-10-15T12:27:26.5750000Z</dcterms:created>
  <dcterms:modified xsi:type="dcterms:W3CDTF">2026-10-15T12:27:26.5750000Z</dcterms:modified>
</coreProperties>
</file>