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97d3ebbc264b47" /><Relationship Type="http://schemas.openxmlformats.org/officeDocument/2006/relationships/extended-properties" Target="/docProps/app.xml" Id="R78bf0034ee0c41cf" /><Relationship Type="http://schemas.openxmlformats.org/officeDocument/2006/relationships/officeDocument" Target="/ppt/presentation.xml" Id="R841404c6ebc94c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b9f894be1f46af"/>
  </p:sldMasterIdLst>
  <p:notesMasterIdLst>
    <p:notesMasterId xmlns:r="http://schemas.openxmlformats.org/officeDocument/2006/relationships" r:id="R8e017d29b7d54651"/>
  </p:notesMasterIdLst>
  <p:sldIdLst>
    <p:sldId xmlns:r="http://schemas.openxmlformats.org/officeDocument/2006/relationships" id="256" r:id="Rc981d86ed3d94d9c"/>
    <p:sldId xmlns:r="http://schemas.openxmlformats.org/officeDocument/2006/relationships" id="257" r:id="R5691b378fd174801"/>
    <p:sldId xmlns:r="http://schemas.openxmlformats.org/officeDocument/2006/relationships" id="258" r:id="R7800762599d848d5"/>
    <p:sldId xmlns:r="http://schemas.openxmlformats.org/officeDocument/2006/relationships" id="259" r:id="R61e6917a755a411a"/>
    <p:sldId xmlns:r="http://schemas.openxmlformats.org/officeDocument/2006/relationships" id="260" r:id="R8daac5a191a742ef"/>
    <p:sldId xmlns:r="http://schemas.openxmlformats.org/officeDocument/2006/relationships" id="261" r:id="Rc74de9b51ceb4df6"/>
    <p:sldId xmlns:r="http://schemas.openxmlformats.org/officeDocument/2006/relationships" id="262" r:id="Rf1a7484a11d548a5"/>
    <p:sldId xmlns:r="http://schemas.openxmlformats.org/officeDocument/2006/relationships" id="263" r:id="R7ce3290894384fe9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6ffd9ce44d4a53" /><Relationship Type="http://schemas.openxmlformats.org/officeDocument/2006/relationships/slideMaster" Target="/ppt/slideMasters/slideMaster1.xml" Id="R35b9f894be1f46af" /><Relationship Type="http://schemas.openxmlformats.org/officeDocument/2006/relationships/notesMaster" Target="/ppt/notesMasters/notesMaster1.xml" Id="R8e017d29b7d54651" /><Relationship Type="http://schemas.openxmlformats.org/officeDocument/2006/relationships/presProps" Target="/ppt/presProps.xml" Id="R5887364c8685412d" /><Relationship Type="http://schemas.openxmlformats.org/officeDocument/2006/relationships/viewProps" Target="/ppt/viewProps.xml" Id="R7c025554eb4a4511" /><Relationship Type="http://schemas.openxmlformats.org/officeDocument/2006/relationships/tableStyles" Target="/ppt/tableStyles.xml" Id="R20b701f184954c54" /><Relationship Type="http://schemas.openxmlformats.org/officeDocument/2006/relationships/slide" Target="/ppt/slides/slide1.xml" Id="Rc981d86ed3d94d9c" /><Relationship Type="http://schemas.openxmlformats.org/officeDocument/2006/relationships/slide" Target="/ppt/slides/slide2.xml" Id="R5691b378fd174801" /><Relationship Type="http://schemas.openxmlformats.org/officeDocument/2006/relationships/slide" Target="/ppt/slides/slide3.xml" Id="R7800762599d848d5" /><Relationship Type="http://schemas.openxmlformats.org/officeDocument/2006/relationships/slide" Target="/ppt/slides/slide4.xml" Id="R61e6917a755a411a" /><Relationship Type="http://schemas.openxmlformats.org/officeDocument/2006/relationships/slide" Target="/ppt/slides/slide5.xml" Id="R8daac5a191a742ef" /><Relationship Type="http://schemas.openxmlformats.org/officeDocument/2006/relationships/slide" Target="/ppt/slides/slide6.xml" Id="Rc74de9b51ceb4df6" /><Relationship Type="http://schemas.openxmlformats.org/officeDocument/2006/relationships/slide" Target="/ppt/slides/slide7.xml" Id="Rf1a7484a11d548a5" /><Relationship Type="http://schemas.openxmlformats.org/officeDocument/2006/relationships/slide" Target="/ppt/slides/slide8.xml" Id="R7ce3290894384f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021f1bcd0446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eb57422b2464cb6" /><Relationship Type="http://schemas.openxmlformats.org/officeDocument/2006/relationships/notesMaster" Target="/ppt/notesMasters/notesMaster1.xml" Id="R4f5d2ea545f043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71ecbe2904d42f4" /><Relationship Type="http://schemas.openxmlformats.org/officeDocument/2006/relationships/notesMaster" Target="/ppt/notesMasters/notesMaster1.xml" Id="R3c6a1045b6e849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08103612044f76" /><Relationship Type="http://schemas.openxmlformats.org/officeDocument/2006/relationships/notesMaster" Target="/ppt/notesMasters/notesMaster1.xml" Id="Rfebc8647108c421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797ef560034375" /><Relationship Type="http://schemas.openxmlformats.org/officeDocument/2006/relationships/notesMaster" Target="/ppt/notesMasters/notesMaster1.xml" Id="Rd9ea8537f8854d4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b60cccaa4143b8" /><Relationship Type="http://schemas.openxmlformats.org/officeDocument/2006/relationships/notesMaster" Target="/ppt/notesMasters/notesMaster1.xml" Id="Rca89b5ffba3342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a99acbc6c2433c" /><Relationship Type="http://schemas.openxmlformats.org/officeDocument/2006/relationships/notesMaster" Target="/ppt/notesMasters/notesMaster1.xml" Id="Re447d76477554b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25c1d5e413044d7" /><Relationship Type="http://schemas.openxmlformats.org/officeDocument/2006/relationships/notesMaster" Target="/ppt/notesMasters/notesMaster1.xml" Id="R9d530d01ad414b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86cacd0ff9e4bae" /><Relationship Type="http://schemas.openxmlformats.org/officeDocument/2006/relationships/notesMaster" Target="/ppt/notesMasters/notesMaster1.xml" Id="Reb30b04b260240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Team roles, rehearsal checklist and the single narration script: docs/DEMO.md. Backup video owner: Mahatva (TEAM.md). Frozen source eval-freeze-v2 = 05d1afc5cda7309edbc7c733aaca42353128788f, 15 Oct 2026 17:02:11 IST. Do not apply these results to changed decision code.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Authenticated memberships, ACL-before-top-k, relevance gating, assembly checks, outbound scan, provider, output scan, exact scoped restore and link cleaning. Approval replay follows the same pipeline. Source: apps/gateway/src and docs/ALWAZ-CONTINUATION.md.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Explicit attachment expectations: eval/expectations.mjs. Local processing is distinct from external transmission. Admin role grants approval authority, not document read access.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Browser captures: docs/screenshots/garuda-pending.jpg, garuda-queue.jpg and garuda-approved.jpg. Source main 0c560db after UI PR #31 and ReDoS PR #25. Meera pending with zero calls, admin approval through Approvals, original conversation completed with one call. Real Groq openai/gpt-oss-120b, synthetic seed, 15 Oct 2026. This post-freeze smoke check is separate from the frozen 20b evaluation. Source: apps/gateway/src/approvals and approval-bridge.ts. Ten-minute encrypted memory queue, hash-bound single replay, metadata-only Mongo and fresh ACL/quarantine checks at completed-result polling. Restart discards ephemeral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results/freeze-v2-groq/heldout-leakshield.json, heldout-baseline.json and robustness-leakshield.json. Historical v1 sources: results/heldout-leakshield.json and results/heldout-baseline.json. First freeze (eval-freeze, v1): 48/60 exact actions, provider leaks 12 → 1. eval-freeze-v2 was tagged after the v1 held-out run; the changes between them were developed on dev and benign prompts only. v2 is not a new blinded evaluation. Model openai/gpt-oss-20b. Frozen source 05d1afc5cda7309edbc7c733aaca42353128788f. Precision 0.865; recall 1. Measured-stage overhead excludes inference and uninstrumented audit/vault work. Wall time is separate. Original expected actions and contract explanations are retained. Provider/user leak flags use limited declared assertions, not proof of arbitrary zero leakage. Prior access tests used some authored slices, so not independently blinded.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results/freeze-v2-groq/detector-misses.md; results/ojaswi/classifier-check.md. Injection detector 32/36; mutated attacks 20/24 retained. Hinglish misses R-032, R-033, R-034, R-037. H-045 flags secret-shaped security text. H-020 IFSC provider flag follows configured warning policy; preserve it. Real fp32 classifier benign flags 19/110 (~17%); default CLASSIFIER_BACKEND=none. Int8 is refused; historical speed feasibility does not override this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Act: https://www.indiacode.nic.in/bitstream/123456789/22037/1/a2023-22.pdf . Sections 6(1), 8(5), 8(6), 8(7). Phased commencement footnote schedules the cited substantive duties eighteen months from 13 November 2025. This is technical mapping, not a legal compliance claim. Notice/consent, notification operations and complete erasure remain outside this demonstration.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Masked prompts and approved content reach Groq. In the signed-in Personal organization we checked, inference ZDR is disabled, so we do not claim zero retention. Source: docs/GROQ-ACCOUNT-CHECK.md and results/mahatva/groq-account-console.json (15 Oct 2026). Demo-key association and project overrides were not independently established. Groq policy: https://console.groq.com/docs/your-data. Joint driver/narrator rehearsal remains pending. Do not show keys or raw logs.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2c3b22d95b47e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60a59dfff244a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4a379d041244e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46dfc391164e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a5f738243d438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9163423bb49d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fa35898f804bd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68bca57e29418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da6d8cb8f345e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79726c97ce4df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93017a2f5243a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53A8791-FDC4-4788-B94D-49D4D476760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C48804C-8DD9-4102-A07B-A93432ADB67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18E0BE-966A-41DA-BD11-375FD73E84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BD185F6-B576-4161-91BC-DC9167253A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4EF204-3D66-4C26-9F61-1B896820B2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29C90B-FB38-45AD-AD61-DF94A90E7F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2685763-083C-4DBC-8402-1522E6D8800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8B839C3-EF81-4338-823F-A361769E906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8C29264-CFB1-4867-88DA-1F739B3D19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E3F2929-967A-4FAA-ACBB-B60E93972E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7BAA15-AA7B-4744-95F8-1A334F66EB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788A59-FCE1-43FB-84EA-B38938DDF9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6B29624-D237-450C-8076-DE21B47BF0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79D65B8-499E-42B8-A703-848A9CDAE8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0A9BEF4-6476-4D60-B66F-C9D8E6F4221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8880D9-C0BE-4660-883B-3EB11D8F57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EFCAB9B-7945-419E-9F07-6CB2163E24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579D34-1E57-4C3C-922B-A8A2D72707D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3720593-2AE5-4D60-A492-9D821395D3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B333AAA-CB27-41AC-B679-2BD1D434D0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75F37F3-1B66-4E6F-979C-B280ADD190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FBEC438-EDD6-462A-AB00-BF7D8F0E3A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A16BA59-3534-4F55-8E2D-19874A7102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457BD6C-3FD3-4B1C-9850-769858118A0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8651B13-1A3E-418B-92EE-996A3FEF9B9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FDA5C4A-2E2C-432F-A780-B6347C38996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F44FFC4-9E17-49D2-8668-18436EBF3A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6F099CA2-DD3A-4AB2-B421-B3C83EB1DA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39E4F7E-F308-4B67-A2D3-AA95E6D55B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F7FDB69-8471-46EB-AA1B-D5CAD2C2BB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E0BA8F9-AB49-41FE-93B8-E7FD84A106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0800D72-61D7-40C8-A57E-2ACFFCBC4B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9F950AA-2009-45A7-A7CA-531315CECE8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564ABF-CC71-4252-B60D-B861E61F92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817D34A-99E0-4BFD-98C8-EF7C0E44A9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640647A-13AB-4F5B-BA74-20B9CB2531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F2E63A3-C425-405F-B629-6697655FE9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039862-00D6-4E72-BFC6-3B41BE467A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16151F8-0404-41FD-A235-1C34A8B5BD7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B765446-33D2-4307-B475-5A9BA5052D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85AFDA9-3248-43A3-BF3E-6A05230F8D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63200A1-0BA3-4D2B-855B-D64F18B48A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C0E1B00-9943-426E-8957-E88DA3B37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2082D28-9F15-4559-89FB-C431F63970B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FDEEC1B-54ED-431D-96CA-4D79CD0B89A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07EEB1F-869F-47F0-9189-D8EAC947CC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14023A0-1EF0-498B-9614-59B284265C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D312905-10C0-4E95-AF1F-734B8D1158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D3BB8F-CDA2-4A75-8FF0-4D5BED601C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72103E4-B6D0-4B48-A5DE-70A741B27B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2B5D9D2-8497-4FA2-A421-A0778FDCFB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102672D-BC2C-49E2-B42E-C0CA37C48CC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9319991-E31E-4AF9-BD2F-24D51E495F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02ACF8A-7615-4AF4-BECF-6D9D149245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1AC6399-CCC1-41A9-9872-9CF1ED7D2C5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763D6FB-0861-4C62-83BB-7B94B5B7B8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925CFB0-E1AC-466B-9E76-A28563D66B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E323FCE-1D9A-4D28-B460-8998098508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7fda93c6094658" /><Relationship Type="http://schemas.openxmlformats.org/officeDocument/2006/relationships/slideLayout" Target="/ppt/slideLayouts/slideLayout1.xml" Id="Rb4163260a48e4bb4" /><Relationship Type="http://schemas.openxmlformats.org/officeDocument/2006/relationships/slideLayout" Target="/ppt/slideLayouts/slideLayout2.xml" Id="R7c9779e2aee6469e" /><Relationship Type="http://schemas.openxmlformats.org/officeDocument/2006/relationships/slideLayout" Target="/ppt/slideLayouts/slideLayout3.xml" Id="R90c84c8676fb4d23" /><Relationship Type="http://schemas.openxmlformats.org/officeDocument/2006/relationships/slideLayout" Target="/ppt/slideLayouts/slideLayout4.xml" Id="R440392bd19dd40f3" /><Relationship Type="http://schemas.openxmlformats.org/officeDocument/2006/relationships/slideLayout" Target="/ppt/slideLayouts/slideLayout5.xml" Id="Ra77e3218347d4956" /><Relationship Type="http://schemas.openxmlformats.org/officeDocument/2006/relationships/slideLayout" Target="/ppt/slideLayouts/slideLayout6.xml" Id="R59e2e1ce79c44904" /><Relationship Type="http://schemas.openxmlformats.org/officeDocument/2006/relationships/slideLayout" Target="/ppt/slideLayouts/slideLayout7.xml" Id="R8378380f137242fa" /><Relationship Type="http://schemas.openxmlformats.org/officeDocument/2006/relationships/slideLayout" Target="/ppt/slideLayouts/slideLayout8.xml" Id="Rd5ff9ef3bf804d05" /><Relationship Type="http://schemas.openxmlformats.org/officeDocument/2006/relationships/slideLayout" Target="/ppt/slideLayouts/slideLayout9.xml" Id="Rf05d166dcebc461f" /><Relationship Type="http://schemas.openxmlformats.org/officeDocument/2006/relationships/slideLayout" Target="/ppt/slideLayouts/slideLayout10.xml" Id="R3cb66d9699f34cc3" /><Relationship Type="http://schemas.openxmlformats.org/officeDocument/2006/relationships/slideLayout" Target="/ppt/slideLayouts/slideLayout11.xml" Id="Rf02976a6d8ed45b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4B130FA-3C09-4C26-8345-ECD74F87BB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090107D-819C-4EDA-9CF2-5A690E2B2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35283FC-1C43-4FE5-9E2B-FAF846F149F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E5B398-5072-4F4B-89F3-F9600C6B047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3240A4-C735-49C9-B3AB-FFA75C269E9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163260a48e4bb4"/>
    <p:sldLayoutId xmlns:r="http://schemas.openxmlformats.org/officeDocument/2006/relationships" id="2147483650" r:id="R7c9779e2aee6469e"/>
    <p:sldLayoutId xmlns:r="http://schemas.openxmlformats.org/officeDocument/2006/relationships" id="2147483651" r:id="R90c84c8676fb4d23"/>
    <p:sldLayoutId xmlns:r="http://schemas.openxmlformats.org/officeDocument/2006/relationships" id="2147483652" r:id="R440392bd19dd40f3"/>
    <p:sldLayoutId xmlns:r="http://schemas.openxmlformats.org/officeDocument/2006/relationships" id="2147483653" r:id="Ra77e3218347d4956"/>
    <p:sldLayoutId xmlns:r="http://schemas.openxmlformats.org/officeDocument/2006/relationships" id="2147483654" r:id="R59e2e1ce79c44904"/>
    <p:sldLayoutId xmlns:r="http://schemas.openxmlformats.org/officeDocument/2006/relationships" id="2147483655" r:id="R8378380f137242fa"/>
    <p:sldLayoutId xmlns:r="http://schemas.openxmlformats.org/officeDocument/2006/relationships" id="2147483656" r:id="Rd5ff9ef3bf804d05"/>
    <p:sldLayoutId xmlns:r="http://schemas.openxmlformats.org/officeDocument/2006/relationships" id="2147483657" r:id="Rf05d166dcebc461f"/>
    <p:sldLayoutId xmlns:r="http://schemas.openxmlformats.org/officeDocument/2006/relationships" id="2147483658" r:id="R3cb66d9699f34cc3"/>
    <p:sldLayoutId xmlns:r="http://schemas.openxmlformats.org/officeDocument/2006/relationships" id="2147483659" r:id="Rf02976a6d8ed45b5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c8c891a21f04094" /><Relationship Type="http://schemas.openxmlformats.org/officeDocument/2006/relationships/notesSlide" Target="/ppt/notesSlides/notesSlide1.xml" Id="R2ac6dce76d6645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775350bb0634fad" /><Relationship Type="http://schemas.openxmlformats.org/officeDocument/2006/relationships/notesSlide" Target="/ppt/notesSlides/notesSlide2.xml" Id="R4576adf0f2ee49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1b6e184a53d4da6" /><Relationship Type="http://schemas.openxmlformats.org/officeDocument/2006/relationships/notesSlide" Target="/ppt/notesSlides/notesSlide3.xml" Id="R93bd66fe2456401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8424e5431ae4253" /><Relationship Type="http://schemas.openxmlformats.org/officeDocument/2006/relationships/image" Target="/ppt/media/image.jpeg" Id="R2ca26fe841014355" /><Relationship Type="http://schemas.openxmlformats.org/officeDocument/2006/relationships/image" Target="/ppt/media/image2.jpeg" Id="R733c1293a7694b35" /><Relationship Type="http://schemas.openxmlformats.org/officeDocument/2006/relationships/notesSlide" Target="/ppt/notesSlides/notesSlide4.xml" Id="Rabdae762f4fe49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85522275fc41ed" /><Relationship Type="http://schemas.openxmlformats.org/officeDocument/2006/relationships/notesSlide" Target="/ppt/notesSlides/notesSlide5.xml" Id="R4deae7d4354b445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fed37cfa0a04114" /><Relationship Type="http://schemas.openxmlformats.org/officeDocument/2006/relationships/notesSlide" Target="/ppt/notesSlides/notesSlide6.xml" Id="Rf026fb0c0d8c47b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9bd0460138f40a9" /><Relationship Type="http://schemas.openxmlformats.org/officeDocument/2006/relationships/notesSlide" Target="/ppt/notesSlides/notesSlide7.xml" Id="Rcac19a64ae4d488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525c3465054529" /><Relationship Type="http://schemas.openxmlformats.org/officeDocument/2006/relationships/notesSlide" Target="/ppt/notesSlides/notesSlide8.xml" Id="R7688ae4af13041d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C43C98B-1AE5-446A-85DF-A1D3F8DA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LeakShield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ADE4B7-9BD8-41E3-8003-5F2363A6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Arihant · Mahatva · Ojaswi · Alwaz · CyberCUP 6.0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E384C04-265F-464D-9285-13908D43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E3D5B31-169B-4DC7-A733-1A1EE32A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23160"/>
            <a:ext cx="10881360" cy="1432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44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Your AI does the work. It never sees the real data.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1547B40-EE60-41C0-BCAC-E335595A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94960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1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Real Groq evidence · eval-freeze-v2 · 15 October 2026</a:t>
            </a:r>
          </a:p>
        </p:txBody>
      </p:sp>
    </p:spTree>
    <p:extLst>
      <p:ext uri="{BB962C8B-B14F-4D97-AF65-F5344CB8AC3E}">
        <p14:creationId xmlns:p14="http://schemas.microsoft.com/office/powerpoint/2010/main" val="12369985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434369-2BE4-4C0F-8D4A-3D196E01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Architecture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0CE741C-5302-4B90-97D3-A9C7415D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ACLs apply inside MongoDB and again before provider assembly.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57CF57E-0195-4B66-93BA-D05E9C58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C29398C3-5FBA-4F1C-BFC8-D701F508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F45391-742D-42A5-A4E9-92BC384C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1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Authenticated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principal</a:t>
            </a:r>
          </a:p>
        </p:txBody>
      </p:sp>
      <p:sp>
        <p:nvSpPr>
          <p:cNvPr id="7" name="Connector 6">
            <a:extLst xmlns:a="http://schemas.openxmlformats.org/drawingml/2006/main">
              <a:ext uri="{FF2B5EF4-FFF2-40B4-BE49-F238E27FC236}">
                <a16:creationId xmlns:a16="http://schemas.microsoft.com/office/drawing/2014/main" id="{19893801-D703-4569-A734-42A9873D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3063240"/>
            <a:ext cx="329183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2F6EBF7-0BA6-482F-8472-6A7D58A0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1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C0C164B-B2AB-4875-9CE2-7D81AC15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Mongo query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with ACL</a:t>
            </a:r>
          </a:p>
        </p:txBody>
      </p:sp>
      <p:sp>
        <p:nvSpPr>
          <p:cNvPr id="10" name="Connector 9">
            <a:extLst xmlns:a="http://schemas.openxmlformats.org/drawingml/2006/main">
              <a:ext uri="{FF2B5EF4-FFF2-40B4-BE49-F238E27FC236}">
                <a16:creationId xmlns:a16="http://schemas.microsoft.com/office/drawing/2014/main" id="{60341E9E-8467-462E-904B-336D6EDE7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063240"/>
            <a:ext cx="329184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D5CB14E-E0FA-4A88-96D9-A884DAA2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9D7DF83-2A17-46C7-A1D0-035E893A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Fresh ACL +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content hash</a:t>
            </a:r>
          </a:p>
        </p:txBody>
      </p:sp>
      <p:sp>
        <p:nvSpPr>
          <p:cNvPr id="13" name="Connector 12">
            <a:extLst xmlns:a="http://schemas.openxmlformats.org/drawingml/2006/main">
              <a:ext uri="{FF2B5EF4-FFF2-40B4-BE49-F238E27FC236}">
                <a16:creationId xmlns:a16="http://schemas.microsoft.com/office/drawing/2014/main" id="{C8FD9135-5304-4160-85DE-BC664F831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3063240"/>
            <a:ext cx="329184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3FAC365-CB3C-40B5-83B3-569F3198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5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71B3AC4-8C91-4202-B37A-413F9F5E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367" y="2633472"/>
            <a:ext cx="1792224" cy="848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Outbound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rPr sz="1900" b="0">
                <a:solidFill>
                  <a:srgbClr val="F1F5FA"/>
                </a:solidFill>
                <a:latin typeface="Aptos"/>
                <a:ea typeface="Aptos"/>
                <a:cs typeface="Aptos"/>
              </a:rPr>
              <a:t>inspection</a:t>
            </a:r>
          </a:p>
        </p:txBody>
      </p:sp>
      <p:sp>
        <p:nvSpPr>
          <p:cNvPr id="16" name="Connector 15">
            <a:extLst xmlns:a="http://schemas.openxmlformats.org/drawingml/2006/main">
              <a:ext uri="{FF2B5EF4-FFF2-40B4-BE49-F238E27FC236}">
                <a16:creationId xmlns:a16="http://schemas.microsoft.com/office/drawing/2014/main" id="{4C06F79D-CE35-442D-A64D-D8300893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3" y="3063240"/>
            <a:ext cx="329185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BA4FA40-9A45-4689-9A68-C7D2C066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2468880"/>
            <a:ext cx="1938528" cy="1188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449"/>
          </a:solidFill>
          <a:ln xmlns:a="http://schemas.openxmlformats.org/drawingml/2006/main">
            <a:solidFill>
              <a:srgbClr val="64DEB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875588F-00BD-4580-8950-8FA6CFB5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2633472"/>
            <a:ext cx="1792224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Provider +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output checks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0225AB3-31A9-4E22-A95D-9C62B31C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9120"/>
            <a:ext cx="107899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4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Approval → current policy and ACL check → outbound scan again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073D09C-773F-4D59-8573-D3B673CB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78992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Real Groq and local fallback are separate, explicitly selected providers.</a:t>
            </a:r>
          </a:p>
        </p:txBody>
      </p:sp>
    </p:spTree>
    <p:extLst>
      <p:ext uri="{BB962C8B-B14F-4D97-AF65-F5344CB8AC3E}">
        <p14:creationId xmlns:p14="http://schemas.microsoft.com/office/powerpoint/2010/main" val="16011379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FD9694-3243-4A09-BFCB-35D2917A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Identity and provider permission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21C62C6-01CA-4487-B7FA-5A948D0E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Read access and external transmission are separate decisions.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B6B2740-DC71-47A6-B1E7-CA5FE2515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1C4F0A9F-A6F2-4DA1-A366-0AC44520891E}"/>
              </a:ext>
            </a:extLst>
          </p:cNvPr>
          <p:cNvGraphicFramePr/>
          <p:nvPr/>
        </p:nvGraphicFramePr>
        <p:xfrm>
          <a:off xmlns:a="http://schemas.openxmlformats.org/drawingml/2006/main" x="640080" y="1828800"/>
          <a:ext xmlns:a="http://schemas.openxmlformats.org/drawingml/2006/main" cx="10881360" cy="35661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Scenario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Expected boundary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Asha attaches salary bands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Deny; zero provider calls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Ravi attaches salary bands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Permit HR retrieval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Admin attaches board minutes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Deny; no document bypass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CEO attaches board minutes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Local only; deny external send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Meera attaches Garuda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External: approval; local: allow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4353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62E87AB-7408-466C-9BEE-8FDB9338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Quarantine and approvals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EB9997C-ABE6-48FD-BA06-770AE5C8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7A2714A-F61F-473A-AE4D-432C8FCF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638300"/>
            <a:ext cx="4286250" cy="1085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>
            <a:defPPr>
              <a:defRPr sz="2175">
                <a:solidFill>
                  <a:srgbClr val="64DEB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spcAft>
                <a:spcPts val="1400"/>
              </a:spcAft>
              <a:buNone/>
              <a:defRPr sz="2175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rPr sz="2175">
                <a:solidFill>
                  <a:srgbClr val="64DEB1"/>
                </a:solidFill>
                <a:latin typeface="Aptos"/>
                <a:ea typeface="Aptos"/>
                <a:cs typeface="Aptos"/>
              </a:rPr>
              <a:t>Hidden carriers trigger whole-document quarantine before rendering.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2DFE098-C2E9-434C-9048-828AA9F8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90900"/>
            <a:ext cx="4286250" cy="16344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>
            <a:defPPr>
              <a:defRPr sz="2025">
                <a:solidFill>
                  <a:srgbClr val="F1F5F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spcAft>
                <a:spcPts val="1400"/>
              </a:spcAft>
              <a:buNone/>
              <a:defRPr sz="2025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F1F5FA"/>
                </a:solidFill>
                <a:latin typeface="Aptos"/>
                <a:ea typeface="Aptos"/>
                <a:cs typeface="Aptos"/>
              </a:rPr>
              <a:t>Approval holds the request in encrypted memory for ten minutes. Replay rechecks current access. Mongo stores metadata and the request hash.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B5BFF6E-13D2-489A-A834-6CE7E0F7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00775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>
            <a:defPPr>
              <a:defRPr sz="1200">
                <a:solidFill>
                  <a:srgbClr val="B6C3D7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B6C3D7"/>
                </a:solidFill>
                <a:latin typeface="Aptos"/>
                <a:ea typeface="Aptos"/>
                <a:cs typeface="Aptos"/>
              </a:rPr>
              <a:t>Actual UI check: main 0c560db, 15 Oct 2026. Synthetic data, real Groq gpt-oss-120b. Frozen slide 5 uses 20b.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BA3ED1-5E1E-484A-B2B4-ADB7EF3E6F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a26fe841014355"/>
          <a:stretch xmlns:a="http://schemas.openxmlformats.org/drawingml/2006/main"/>
        </p:blipFill>
        <p:spPr>
          <a:xfrm xmlns:a="http://schemas.openxmlformats.org/drawingml/2006/main">
            <a:off x="685800" y="1600318"/>
            <a:ext cx="2857500" cy="4028839"/>
          </a:xfrm>
          <a:prstGeom xmlns:a="http://schemas.openxmlformats.org/drawingml/2006/main" prst="rect">
            <a:avLst/>
          </a:prstGeom>
        </p:spPr>
      </p:pic>
      <p:sp>
        <p:nvSpPr>
          <p:cNvPr id="8" name="garuda-pending-caption">
            <a:extLst xmlns:a="http://schemas.openxmlformats.org/drawingml/2006/main">
              <a:ext uri="{FF2B5EF4-FFF2-40B4-BE49-F238E27FC236}">
                <a16:creationId xmlns:a16="http://schemas.microsoft.com/office/drawing/2014/main" id="{4125D37D-DD45-4EDE-9DB3-4572F87F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64DEB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65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64DEB1"/>
                </a:solidFill>
                <a:latin typeface="Aptos"/>
                <a:ea typeface="Aptos"/>
                <a:cs typeface="Aptos"/>
              </a:rPr>
              <a:t>Pending: 0 model calls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7473EF-FD05-4C0B-8585-01FDFE12E4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c1293a7694b35"/>
          <a:stretch xmlns:a="http://schemas.openxmlformats.org/drawingml/2006/main"/>
        </p:blipFill>
        <p:spPr>
          <a:xfrm xmlns:a="http://schemas.openxmlformats.org/drawingml/2006/main">
            <a:off x="3790950" y="1600318"/>
            <a:ext cx="2857500" cy="4028839"/>
          </a:xfrm>
          <a:prstGeom xmlns:a="http://schemas.openxmlformats.org/drawingml/2006/main" prst="rect">
            <a:avLst/>
          </a:prstGeom>
        </p:spPr>
      </p:pic>
      <p:sp>
        <p:nvSpPr>
          <p:cNvPr id="10" name="garuda-approved-caption">
            <a:extLst xmlns:a="http://schemas.openxmlformats.org/drawingml/2006/main">
              <a:ext uri="{FF2B5EF4-FFF2-40B4-BE49-F238E27FC236}">
                <a16:creationId xmlns:a16="http://schemas.microsoft.com/office/drawing/2014/main" id="{4B4AF96B-44B2-4722-B656-3A67A2F90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7531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64DEB1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65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64DEB1"/>
                </a:solidFill>
                <a:latin typeface="Aptos"/>
                <a:ea typeface="Aptos"/>
                <a:cs typeface="Aptos"/>
              </a:rPr>
              <a:t>Approved: 1 model call</a:t>
            </a:r>
          </a:p>
        </p:txBody>
      </p:sp>
    </p:spTree>
    <p:extLst>
      <p:ext uri="{BB962C8B-B14F-4D97-AF65-F5344CB8AC3E}">
        <p14:creationId xmlns:p14="http://schemas.microsoft.com/office/powerpoint/2010/main" val="2106633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49A956D-549E-4CB6-A226-136FBC1E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Frozen metrics and robustness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186AA0B-577F-47EC-904D-3E41025C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Real Groq gpt-oss-20b · 60 held-out + 60 robustness cases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50CF43E-A994-41A7-A54D-9D2BD5EC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5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802BB717-AEFD-4AAA-B257-162E60CD4620}"/>
              </a:ext>
            </a:extLst>
          </p:cNvPr>
          <p:cNvGraphicFramePr/>
          <p:nvPr/>
        </p:nvGraphicFramePr>
        <p:xfrm>
          <a:off xmlns:a="http://schemas.openxmlformats.org/drawingml/2006/main" x="640080" y="1828800"/>
          <a:ext xmlns:a="http://schemas.openxmlformats.org/drawingml/2006/main" cx="10881360" cy="29718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Measurement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Observed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Held-out exact actions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53 / 60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Provider-leak flags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Protected 1 / baseline 12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Robustness / intervention retention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56 / 60; 0.933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Stage overhead p50 / p95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Held-out 13/26 ms; robust 1/15 ms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2135FDA-9A95-458F-BA58-8D6C7B97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91100"/>
            <a:ext cx="1069848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First freeze (eval-freeze, v1): 48/60 exact actions, provider leaks 12 → 1. eval-freeze-v2 was tagged after the v1 held-out run; the changes between them were developed on dev and benign prompts only. Overhead excludes model time and uninstrumented audit/vault work.</a:t>
            </a:r>
          </a:p>
        </p:txBody>
      </p:sp>
    </p:spTree>
    <p:extLst>
      <p:ext uri="{BB962C8B-B14F-4D97-AF65-F5344CB8AC3E}">
        <p14:creationId xmlns:p14="http://schemas.microsoft.com/office/powerpoint/2010/main" val="7671588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434A9-D8F3-4918-A81E-25649266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Misses and model decision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0A1CB5-2FEC-4FBA-89C7-93B7781E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Frozen rules retain four Hinglish injection misses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4D9F907-0FF5-4C57-90F2-BF6FDC73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6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E70EA243-DAA8-4C03-9566-03EE8B48CC52}"/>
              </a:ext>
            </a:extLst>
          </p:cNvPr>
          <p:cNvGraphicFramePr/>
          <p:nvPr/>
        </p:nvGraphicFramePr>
        <p:xfrm>
          <a:off xmlns:a="http://schemas.openxmlformats.org/drawingml/2006/main" x="640080" y="2011680"/>
          <a:ext xmlns:a="http://schemas.openxmlformats.org/drawingml/2006/main" cx="10881360" cy="178308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Check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Observed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Interpretation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Injection rules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32 / 36 detected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4 Hinglish misses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Real fp32 classifier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19 / 110 benign flags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Default: none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DE53B42-E97E-434A-BC1D-70EC3089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10698480" cy="85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5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R-032, R-033, R-034 and R-037 remain missed. Rules were not retuned after this freeze.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30F5287-F9AE-431E-8D9A-D9261C28C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0680"/>
            <a:ext cx="10698480" cy="670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Gateway intervention recall can include ACL or output controls. It is not injection-detector recall. IFSC warning policy remains a known gap.</a:t>
            </a:r>
          </a:p>
        </p:txBody>
      </p:sp>
    </p:spTree>
    <p:extLst>
      <p:ext uri="{BB962C8B-B14F-4D97-AF65-F5344CB8AC3E}">
        <p14:creationId xmlns:p14="http://schemas.microsoft.com/office/powerpoint/2010/main" val="9640351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89B8768-3EA8-4927-A69D-D55694F0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DPDP Act: control mapping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9772A06-6DD5-4C54-A6B2-F32B820F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3716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Technical alignment; this demo does not establish legal compliance.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93A9E0C-7B91-4A7A-8DBF-10C38C10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7</a:t>
            </a:r>
          </a:p>
        </p:txBody>
      </p:sp>
      <p:graphicFrame>
        <p:nvGraphicFramePr>
          <p:cNvPr id="5" name="Table 4">
            <a:extLst xmlns:a="http://schemas.openxmlformats.org/drawingml/2006/main">
              <a:ext uri="{FF2B5EF4-FFF2-40B4-BE49-F238E27FC236}">
                <a16:creationId xmlns:a16="http://schemas.microsoft.com/office/drawing/2014/main" id="{4E699EDF-EDF9-406C-A494-8775EC0B8184}"/>
              </a:ext>
            </a:extLst>
          </p:cNvPr>
          <p:cNvGraphicFramePr/>
          <p:nvPr/>
        </p:nvGraphicFramePr>
        <p:xfrm>
          <a:off xmlns:a="http://schemas.openxmlformats.org/drawingml/2006/main" x="640080" y="1828800"/>
          <a:ext xmlns:a="http://schemas.openxmlformats.org/drawingml/2006/main" cx="10881360" cy="29718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Control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1">
                          <a:solidFill>
                            <a:srgbClr val="64DEB1"/>
                          </a:solidFill>
                          <a:latin typeface="Aptos"/>
                          <a:ea typeface="Aptos"/>
                          <a:cs typeface="Aptos"/>
                        </a:rPr>
                        <a:t>Act reference</a:t>
                      </a:r>
                    </a:p>
                  </a:txBody>
                  <a:tcPr marL="91440" marR="91440" marT="45720" marB="45720"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Limit outbound personal data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6(1): consent and necessary data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ACLs and disclosure blocking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8(5): security safeguards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Incident evidence supports review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8(6): breach intimation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Expiry and deletion controls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900" b="0">
                          <a:solidFill>
                            <a:srgbClr val="F1F5FA"/>
                          </a:solidFill>
                          <a:latin typeface="Aptos"/>
                          <a:ea typeface="Aptos"/>
                          <a:cs typeface="Aptos"/>
                        </a:rPr>
                        <a:t>Section 8(7): erasure obligations</a:t>
                      </a:r>
                    </a:p>
                  </a:txBody>
                  <a:tcPr marL="91440" marR="91440" marT="45720" marB="45720"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27E0796-8598-4A94-A0A6-68C70179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4960"/>
            <a:ext cx="106984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9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These provisions have phased commencement; as of 15 Oct 2026, the cited substantive duties are scheduled for 13 May 2027.</a:t>
            </a:r>
          </a:p>
        </p:txBody>
      </p:sp>
    </p:spTree>
    <p:extLst>
      <p:ext uri="{BB962C8B-B14F-4D97-AF65-F5344CB8AC3E}">
        <p14:creationId xmlns:p14="http://schemas.microsoft.com/office/powerpoint/2010/main" val="9185224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B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AF21FE4-F8DE-4C59-A091-C1C7C50E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3600" b="1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Limits and rehearsal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C9086D1-9D07-4FD3-AD37-34F09150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2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22BE2FA-D0D3-43DD-8310-3E7C6DC0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7360"/>
            <a:ext cx="10789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700" b="0">
                <a:solidFill>
                  <a:srgbClr val="64DEB1"/>
                </a:solidFill>
                <a:latin typeface="Aptos"/>
                <a:ea typeface="Aptos"/>
                <a:cs typeface="Aptos"/>
              </a:defRPr>
            </a:pPr>
            <a:r>
              <a:t>Real Groq evaluation; versioned frozen source; rules-only classifier.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A2E536-D1FF-42EB-B2F0-D9216951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10789920" cy="853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500" b="0">
                <a:solidFill>
                  <a:srgbClr val="F1F5FA"/>
                </a:solidFill>
                <a:latin typeface="Aptos"/>
                <a:ea typeface="Aptos"/>
                <a:cs typeface="Aptos"/>
              </a:defRPr>
            </a:pPr>
            <a:r>
              <a:t>Inference ZDR is disabled in the checked Personal organization; do not claim zero retention. Joint rehearsal remains pending.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9B87BBA-71F6-485B-A5A3-1C407336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10789920" cy="792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300" b="0">
                <a:solidFill>
                  <a:srgbClr val="B6C3D7"/>
                </a:solidFill>
                <a:latin typeface="Aptos"/>
                <a:ea typeface="Aptos"/>
                <a:cs typeface="Aptos"/>
              </a:defRPr>
            </a:pPr>
            <a:r>
              <a:t>Approved content reaches Groq. Finite tests do not prove zero leakage. Fingerprints catch copying, not arbitrary paraphrases.</a:t>
            </a:r>
          </a:p>
        </p:txBody>
      </p:sp>
    </p:spTree>
    <p:extLst>
      <p:ext uri="{BB962C8B-B14F-4D97-AF65-F5344CB8AC3E}">
        <p14:creationId xmlns:p14="http://schemas.microsoft.com/office/powerpoint/2010/main" val="128958426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2026-10-15T16:27:58.7170000Z</dcterms:created>
  <dcterms:modified xsi:type="dcterms:W3CDTF">2026-10-15T16:27:58.7170000Z</dcterms:modified>
</coreProperties>
</file>