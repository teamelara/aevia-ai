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e98b8f6edc430e" /><Relationship Type="http://schemas.openxmlformats.org/officeDocument/2006/relationships/extended-properties" Target="/docProps/app.xml" Id="R5d9198831d05449a" /><Relationship Type="http://schemas.openxmlformats.org/officeDocument/2006/relationships/officeDocument" Target="/ppt/presentation.xml" Id="Ra7dbef06532a4c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3fb88b096d4f49"/>
  </p:sldMasterIdLst>
  <p:notesMasterIdLst>
    <p:notesMasterId xmlns:r="http://schemas.openxmlformats.org/officeDocument/2006/relationships" r:id="R27b3dcd868f64357"/>
  </p:notesMasterIdLst>
  <p:sldIdLst>
    <p:sldId xmlns:r="http://schemas.openxmlformats.org/officeDocument/2006/relationships" id="256" r:id="R815ece5b1ac240bd"/>
    <p:sldId xmlns:r="http://schemas.openxmlformats.org/officeDocument/2006/relationships" id="257" r:id="R4099f785033c4ea6"/>
    <p:sldId xmlns:r="http://schemas.openxmlformats.org/officeDocument/2006/relationships" id="258" r:id="Rbef47338beba4e23"/>
    <p:sldId xmlns:r="http://schemas.openxmlformats.org/officeDocument/2006/relationships" id="259" r:id="R904b2c1f10bd4282"/>
    <p:sldId xmlns:r="http://schemas.openxmlformats.org/officeDocument/2006/relationships" id="260" r:id="Rbb9faedbe8e44782"/>
    <p:sldId xmlns:r="http://schemas.openxmlformats.org/officeDocument/2006/relationships" id="261" r:id="R1ad48ef2ca724f1d"/>
    <p:sldId xmlns:r="http://schemas.openxmlformats.org/officeDocument/2006/relationships" id="262" r:id="R98af184b6b524a86"/>
    <p:sldId xmlns:r="http://schemas.openxmlformats.org/officeDocument/2006/relationships" id="263" r:id="Rbab70b3967a84994"/>
  </p:sldIdLst>
  <p:sldSz cx="12191695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4a4eb1094e4a0f" /><Relationship Type="http://schemas.openxmlformats.org/officeDocument/2006/relationships/slideMaster" Target="/ppt/slideMasters/slideMaster1.xml" Id="R413fb88b096d4f49" /><Relationship Type="http://schemas.openxmlformats.org/officeDocument/2006/relationships/notesMaster" Target="/ppt/notesMasters/notesMaster1.xml" Id="R27b3dcd868f64357" /><Relationship Type="http://schemas.openxmlformats.org/officeDocument/2006/relationships/presProps" Target="/ppt/presProps.xml" Id="R31803ebbb5b3422a" /><Relationship Type="http://schemas.openxmlformats.org/officeDocument/2006/relationships/viewProps" Target="/ppt/viewProps.xml" Id="R8e2df73850c04786" /><Relationship Type="http://schemas.openxmlformats.org/officeDocument/2006/relationships/tableStyles" Target="/ppt/tableStyles.xml" Id="R3d2719121c694832" /><Relationship Type="http://schemas.openxmlformats.org/officeDocument/2006/relationships/slide" Target="/ppt/slides/slide1.xml" Id="R815ece5b1ac240bd" /><Relationship Type="http://schemas.openxmlformats.org/officeDocument/2006/relationships/slide" Target="/ppt/slides/slide2.xml" Id="R4099f785033c4ea6" /><Relationship Type="http://schemas.openxmlformats.org/officeDocument/2006/relationships/slide" Target="/ppt/slides/slide3.xml" Id="Rbef47338beba4e23" /><Relationship Type="http://schemas.openxmlformats.org/officeDocument/2006/relationships/slide" Target="/ppt/slides/slide4.xml" Id="R904b2c1f10bd4282" /><Relationship Type="http://schemas.openxmlformats.org/officeDocument/2006/relationships/slide" Target="/ppt/slides/slide5.xml" Id="Rbb9faedbe8e44782" /><Relationship Type="http://schemas.openxmlformats.org/officeDocument/2006/relationships/slide" Target="/ppt/slides/slide6.xml" Id="R1ad48ef2ca724f1d" /><Relationship Type="http://schemas.openxmlformats.org/officeDocument/2006/relationships/slide" Target="/ppt/slides/slide7.xml" Id="R98af184b6b524a86" /><Relationship Type="http://schemas.openxmlformats.org/officeDocument/2006/relationships/slide" Target="/ppt/slides/slide8.xml" Id="Rbab70b3967a849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2d973df60643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3282210f274e70" /><Relationship Type="http://schemas.openxmlformats.org/officeDocument/2006/relationships/notesMaster" Target="/ppt/notesMasters/notesMaster1.xml" Id="R870a9f24f7a041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fff3037ff742a8" /><Relationship Type="http://schemas.openxmlformats.org/officeDocument/2006/relationships/notesMaster" Target="/ppt/notesMasters/notesMaster1.xml" Id="Raf8ef9cd18da400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1e5f271aaf4613" /><Relationship Type="http://schemas.openxmlformats.org/officeDocument/2006/relationships/notesMaster" Target="/ppt/notesMasters/notesMaster1.xml" Id="R0044e0738b6a42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4e2c8885f1478e" /><Relationship Type="http://schemas.openxmlformats.org/officeDocument/2006/relationships/notesMaster" Target="/ppt/notesMasters/notesMaster1.xml" Id="R09b8d4a246c34a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7215f2e3cd4ee9" /><Relationship Type="http://schemas.openxmlformats.org/officeDocument/2006/relationships/notesMaster" Target="/ppt/notesMasters/notesMaster1.xml" Id="Rcc98ce0ca01d45c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450cd4b1cc4082" /><Relationship Type="http://schemas.openxmlformats.org/officeDocument/2006/relationships/notesMaster" Target="/ppt/notesMasters/notesMaster1.xml" Id="Rf40a62e20379430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1f24ab56969434b" /><Relationship Type="http://schemas.openxmlformats.org/officeDocument/2006/relationships/notesMaster" Target="/ppt/notesMasters/notesMaster1.xml" Id="R4ebd599900394d5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d662d9bb45244fb" /><Relationship Type="http://schemas.openxmlformats.org/officeDocument/2006/relationships/notesMaster" Target="/ppt/notesMasters/notesMaster1.xml" Id="R6ba49175462240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deck reports Alwaz’s implemented scope. The full gateway and final frozen benchmark are team integration dependencies.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validation: docs/ALWAZ-CONTINUATION.md; real Groq boundaries: results/continuation-groq/boundaries.json; historical Ollama labels: results/alwaz/ollama-verification.json. Current Groq smoke is unfrozen and is not a full model-backed evaluation.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and Apache-2.0 license: https://huggingface.co/protectai/deberta-v3-base-prompt-injection-v2 . Revision 90c9989b1a342275dd0d1a95aad283c04e075671. Measurements: results/alwaz/classifier-spike.json. Shared-process RSS is unsuitable for isolated memory comparisons.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https://www.indiacode.nic.in/bitstream/123456789/22037/1/a2023-22.pdf ; sections 6(1), 8(5)-(7), commencement footnote at page 5. Controls assist implementation but do not satisfy notice, consent, notification or erasure workflows on their own.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Groq policy source: https://console.groq.com/docs/your-data . Team-specific ZDR and rate limits have not been verified. Implementation published for review: https://github.com/TeamElara/Aevia-AI/pull/1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e7bd57a98b462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537461c7aa496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df608a30a44c4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3f5372d62440d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9ead71a03a496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0af40c156d448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6216ac67ca4b0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118a31bdcc4fe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e2acffb32b4e4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5733e8e1b1488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da9e8e4f104dc4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53A8791-FDC4-4788-B94D-49D4D476760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2C48804C-8DD9-4102-A07B-A93432ADB67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718E0BE-966A-41DA-BD11-375FD73E84C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BD185F6-B576-4161-91BC-DC9167253A5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04EF204-3D66-4C26-9F61-1B896820B2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D29C90B-FB38-45AD-AD61-DF94A90E7F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2685763-083C-4DBC-8402-1522E6D8800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8B839C3-EF81-4338-823F-A361769E906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8C29264-CFB1-4867-88DA-1F739B3D19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E3F2929-967A-4FAA-ACBB-B60E93972E7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7BAA15-AA7B-4744-95F8-1A334F66EB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C788A59-FCE1-43FB-84EA-B38938DDF9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6B29624-D237-450C-8076-DE21B47BF0A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79D65B8-499E-42B8-A703-848A9CDAE88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0A9BEF4-6476-4D60-B66F-C9D8E6F422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8880D9-C0BE-4660-883B-3EB11D8F57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EFCAB9B-7945-419E-9F07-6CB2163E241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8579D34-1E57-4C3C-922B-A8A2D72707D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3720593-2AE5-4D60-A492-9D821395D3E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B333AAA-CB27-41AC-B679-2BD1D434D0A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75F37F3-1B66-4E6F-979C-B280ADD190C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FBEC438-EDD6-462A-AB00-BF7D8F0E3A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A16BA59-3534-4F55-8E2D-19874A7102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457BD6C-3FD3-4B1C-9850-769858118A0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C8651B13-1A3E-418B-92EE-996A3FEF9B9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4FDA5C4A-2E2C-432F-A780-B6347C38996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BF44FFC4-9E17-49D2-8668-18436EBF3AA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6F099CA2-DD3A-4AB2-B421-B3C83EB1DA5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239E4F7E-F308-4B67-A2D3-AA95E6D55B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F7FDB69-8471-46EB-AA1B-D5CAD2C2BB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CE0BA8F9-AB49-41FE-93B8-E7FD84A106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E0800D72-61D7-40C8-A57E-2ACFFCBC4B8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B9F950AA-2009-45A7-A7CA-531315CECE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4A564ABF-CC71-4252-B60D-B861E61F927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F817D34A-99E0-4BFD-98C8-EF7C0E44A9B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2640647A-13AB-4F5B-BA74-20B9CB2531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F2E63A3-C425-405F-B629-6697655FE9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F039862-00D6-4E72-BFC6-3B41BE467A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16151F8-0404-41FD-A235-1C34A8B5BD7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B765446-33D2-4307-B475-5A9BA5052DA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85AFDA9-3248-43A3-BF3E-6A05230F8D6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63200A1-0BA3-4D2B-855B-D64F18B48A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0E1B00-9943-426E-8957-E88DA3B37F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62082D28-9F15-4559-89FB-C431F63970B4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FDEEC1B-54ED-431D-96CA-4D79CD0B89A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07EEB1F-869F-47F0-9189-D8EAC947CCE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14023A0-1EF0-498B-9614-59B284265C4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D312905-10C0-4E95-AF1F-734B8D1158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AD3BB8F-CDA2-4A75-8FF0-4D5BED601C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72103E4-B6D0-4B48-A5DE-70A741B27B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2B5D9D2-8497-4FA2-A421-A0778FDCFBC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102672D-BC2C-49E2-B42E-C0CA37C48CC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9319991-E31E-4AF9-BD2F-24D51E495F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902ACF8A-7615-4AF4-BECF-6D9D149245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1AC6399-CCC1-41A9-9872-9CF1ED7D2C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763D6FB-0861-4C62-83BB-7B94B5B7B82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925CFB0-E1AC-466B-9E76-A28563D66B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E323FCE-1D9A-4D28-B460-8998098508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e5b17cccce4024" /><Relationship Type="http://schemas.openxmlformats.org/officeDocument/2006/relationships/slideLayout" Target="/ppt/slideLayouts/slideLayout1.xml" Id="Rfedaf63926f942d7" /><Relationship Type="http://schemas.openxmlformats.org/officeDocument/2006/relationships/slideLayout" Target="/ppt/slideLayouts/slideLayout2.xml" Id="Rfab9a6c23a364449" /><Relationship Type="http://schemas.openxmlformats.org/officeDocument/2006/relationships/slideLayout" Target="/ppt/slideLayouts/slideLayout3.xml" Id="R8d44c09272414d72" /><Relationship Type="http://schemas.openxmlformats.org/officeDocument/2006/relationships/slideLayout" Target="/ppt/slideLayouts/slideLayout4.xml" Id="Re5c322859e234453" /><Relationship Type="http://schemas.openxmlformats.org/officeDocument/2006/relationships/slideLayout" Target="/ppt/slideLayouts/slideLayout5.xml" Id="R75b2f90e946e4939" /><Relationship Type="http://schemas.openxmlformats.org/officeDocument/2006/relationships/slideLayout" Target="/ppt/slideLayouts/slideLayout6.xml" Id="R3b522cdd7f4644e5" /><Relationship Type="http://schemas.openxmlformats.org/officeDocument/2006/relationships/slideLayout" Target="/ppt/slideLayouts/slideLayout7.xml" Id="Rf5dc34ad02e84259" /><Relationship Type="http://schemas.openxmlformats.org/officeDocument/2006/relationships/slideLayout" Target="/ppt/slideLayouts/slideLayout8.xml" Id="Rcc6454e92bd44ec3" /><Relationship Type="http://schemas.openxmlformats.org/officeDocument/2006/relationships/slideLayout" Target="/ppt/slideLayouts/slideLayout9.xml" Id="Re77a34e46fbd4df3" /><Relationship Type="http://schemas.openxmlformats.org/officeDocument/2006/relationships/slideLayout" Target="/ppt/slideLayouts/slideLayout10.xml" Id="R4b1178ee77e94dff" /><Relationship Type="http://schemas.openxmlformats.org/officeDocument/2006/relationships/slideLayout" Target="/ppt/slideLayouts/slideLayout11.xml" Id="R1fb4c987711a47b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4B130FA-3C09-4C26-8345-ECD74F87BB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090107D-819C-4EDA-9CF2-5A690E2B2C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35283FC-1C43-4FE5-9E2B-FAF846F149F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5E5B398-5072-4F4B-89F3-F9600C6B047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43240A4-C735-49C9-B3AB-FFA75C269E9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daf63926f942d7"/>
    <p:sldLayoutId xmlns:r="http://schemas.openxmlformats.org/officeDocument/2006/relationships" id="2147483650" r:id="Rfab9a6c23a364449"/>
    <p:sldLayoutId xmlns:r="http://schemas.openxmlformats.org/officeDocument/2006/relationships" id="2147483651" r:id="R8d44c09272414d72"/>
    <p:sldLayoutId xmlns:r="http://schemas.openxmlformats.org/officeDocument/2006/relationships" id="2147483652" r:id="Re5c322859e234453"/>
    <p:sldLayoutId xmlns:r="http://schemas.openxmlformats.org/officeDocument/2006/relationships" id="2147483653" r:id="R75b2f90e946e4939"/>
    <p:sldLayoutId xmlns:r="http://schemas.openxmlformats.org/officeDocument/2006/relationships" id="2147483654" r:id="R3b522cdd7f4644e5"/>
    <p:sldLayoutId xmlns:r="http://schemas.openxmlformats.org/officeDocument/2006/relationships" id="2147483655" r:id="Rf5dc34ad02e84259"/>
    <p:sldLayoutId xmlns:r="http://schemas.openxmlformats.org/officeDocument/2006/relationships" id="2147483656" r:id="Rcc6454e92bd44ec3"/>
    <p:sldLayoutId xmlns:r="http://schemas.openxmlformats.org/officeDocument/2006/relationships" id="2147483657" r:id="Re77a34e46fbd4df3"/>
    <p:sldLayoutId xmlns:r="http://schemas.openxmlformats.org/officeDocument/2006/relationships" id="2147483658" r:id="R4b1178ee77e94dff"/>
    <p:sldLayoutId xmlns:r="http://schemas.openxmlformats.org/officeDocument/2006/relationships" id="2147483659" r:id="R1fb4c987711a47b2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42fabb3c5aa4b08" /><Relationship Type="http://schemas.openxmlformats.org/officeDocument/2006/relationships/notesSlide" Target="/ppt/notesSlides/notesSlide1.xml" Id="R73f99e998e7146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ca31ec4ec2b41cd" /><Relationship Type="http://schemas.openxmlformats.org/officeDocument/2006/relationships/notesSlide" Target="/ppt/notesSlides/notesSlide2.xml" Id="Re770986175ec45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080593879f44875" /><Relationship Type="http://schemas.openxmlformats.org/officeDocument/2006/relationships/notesSlide" Target="/ppt/notesSlides/notesSlide3.xml" Id="R7d783b0ccf02471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dcc0815e63744de" /><Relationship Type="http://schemas.openxmlformats.org/officeDocument/2006/relationships/notesSlide" Target="/ppt/notesSlides/notesSlide4.xml" Id="R41cf1d25dcda439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79e4fa4dd1845c8" /><Relationship Type="http://schemas.openxmlformats.org/officeDocument/2006/relationships/notesSlide" Target="/ppt/notesSlides/notesSlide5.xml" Id="R6f083db35cd94ae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d4622f291ce4c22" /><Relationship Type="http://schemas.openxmlformats.org/officeDocument/2006/relationships/notesSlide" Target="/ppt/notesSlides/notesSlide6.xml" Id="Rebfd8770d255484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3d2b1e706534140" /><Relationship Type="http://schemas.openxmlformats.org/officeDocument/2006/relationships/notesSlide" Target="/ppt/notesSlides/notesSlide7.xml" Id="Reb7712e037c44f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052940712774853" /><Relationship Type="http://schemas.openxmlformats.org/officeDocument/2006/relationships/notesSlide" Target="/ppt/notesSlides/notesSlide8.xml" Id="Rf3acef9470a245f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B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C43C98B-1AE5-446A-85DF-A1D3F8DA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8912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3600" b="1">
                <a:solidFill>
                  <a:srgbClr val="F1F5FA"/>
                </a:solidFill>
                <a:latin typeface="Aptos"/>
                <a:ea typeface="Aptos"/>
                <a:cs typeface="Aptos"/>
              </a:defRPr>
            </a:pPr>
            <a:r>
              <a:t>LeakShield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6ADE4B7-9BD8-41E3-8003-5F2363A65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371600"/>
            <a:ext cx="109728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1900" b="0">
                <a:solidFill>
                  <a:srgbClr val="B6C3D7"/>
                </a:solidFill>
                <a:latin typeface="Aptos"/>
                <a:ea typeface="Aptos"/>
                <a:cs typeface="Aptos"/>
              </a:defRPr>
            </a:pPr>
            <a:r>
              <a:t>Access and approvals · Alwaz · CyberCUP 6.0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E384C04-265F-464D-9285-13908D43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355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1200" b="0">
                <a:solidFill>
                  <a:srgbClr val="B6C3D7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E3D5B31-169B-4DC7-A733-1A1EE32A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23160"/>
            <a:ext cx="1088136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4400" b="1">
                <a:solidFill>
                  <a:srgbClr val="F1F5FA"/>
                </a:solidFill>
                <a:latin typeface="Aptos"/>
                <a:ea typeface="Aptos"/>
                <a:cs typeface="Aptos"/>
              </a:defRPr>
            </a:pPr>
            <a:r>
              <a:t>Control which documents</a:t>
            </a:r>
          </a:p>
          <a:p xmlns:a="http://schemas.openxmlformats.org/drawingml/2006/main">
            <a:pPr>
              <a:spcAft>
                <a:spcPts val="1400"/>
              </a:spcAft>
              <a:buNone/>
              <a:defRPr sz="4400" b="1">
                <a:solidFill>
                  <a:srgbClr val="F1F5FA"/>
                </a:solidFill>
                <a:latin typeface="Aptos"/>
                <a:ea typeface="Aptos"/>
                <a:cs typeface="Aptos"/>
              </a:defRPr>
            </a:pPr>
            <a:r>
              <a:t>reach the model.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1547B40-EE60-41C0-BCAC-E335595A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94960"/>
            <a:ext cx="10972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2100" b="0">
                <a:solidFill>
                  <a:srgbClr val="B6C3D7"/>
                </a:solidFill>
                <a:latin typeface="Aptos"/>
                <a:ea typeface="Aptos"/>
                <a:cs typeface="Aptos"/>
              </a:defRPr>
            </a:pPr>
            <a:r>
              <a:t>Development evidence · 15 October 2026</a:t>
            </a:r>
          </a:p>
        </p:txBody>
      </p:sp>
    </p:spTree>
    <p:extLst>
      <p:ext uri="{BB962C8B-B14F-4D97-AF65-F5344CB8AC3E}">
        <p14:creationId xmlns:p14="http://schemas.microsoft.com/office/powerpoint/2010/main" val="12369985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11B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4434369-2BE4-4C0F-8D4A-3D196E01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8912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3600" b="1">
                <a:solidFill>
                  <a:srgbClr val="F1F5FA"/>
                </a:solidFill>
                <a:latin typeface="Aptos"/>
                <a:ea typeface="Aptos"/>
                <a:cs typeface="Aptos"/>
              </a:defRPr>
            </a:pPr>
            <a:r>
              <a:t>Architecture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0CE741C-5302-4B90-97D3-A9C7415D0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371600"/>
            <a:ext cx="109728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1900" b="0">
                <a:solidFill>
                  <a:srgbClr val="B6C3D7"/>
                </a:solidFill>
                <a:latin typeface="Aptos"/>
                <a:ea typeface="Aptos"/>
                <a:cs typeface="Aptos"/>
              </a:defRPr>
            </a:pPr>
            <a:r>
              <a:t>ACLs apply inside MongoDB and again before provider assembly.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57CF57E-0195-4B66-93BA-D05E9C58C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355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1200" b="0">
                <a:solidFill>
                  <a:srgbClr val="B6C3D7"/>
                </a:solidFill>
                <a:latin typeface="Aptos"/>
                <a:ea typeface="Aptos"/>
                <a:cs typeface="Aptos"/>
              </a:defRPr>
            </a:pPr>
            <a:r>
              <a:t>2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C29398C3-5FBA-4F1C-BFC8-D701F508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68880"/>
            <a:ext cx="1938528" cy="1188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43449"/>
          </a:solidFill>
          <a:ln xmlns:a="http://schemas.openxmlformats.org/drawingml/2006/main">
            <a:solidFill>
              <a:srgbClr val="64DEB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EF45391-742D-42A5-A4E9-92BC384C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1" y="2633472"/>
            <a:ext cx="1792224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1900" b="0">
                <a:solidFill>
                  <a:srgbClr val="F1F5FA"/>
                </a:solidFill>
                <a:latin typeface="Aptos"/>
                <a:ea typeface="Aptos"/>
                <a:cs typeface="Aptos"/>
              </a:defRPr>
            </a:pPr>
            <a:r>
              <a:t>Authenticated</a:t>
            </a:r>
          </a:p>
          <a:p xmlns:a="http://schemas.openxmlformats.org/drawingml/2006/main">
            <a:pPr>
              <a:spcAft>
                <a:spcPts val="1400"/>
              </a:spcAft>
              <a:buNone/>
              <a:defRPr sz="1900" b="0">
                <a:solidFill>
                  <a:srgbClr val="F1F5FA"/>
                </a:solidFill>
                <a:latin typeface="Aptos"/>
                <a:ea typeface="Aptos"/>
                <a:cs typeface="Aptos"/>
              </a:defRPr>
            </a:pPr>
            <a:r>
              <a:t>principal</a:t>
            </a:r>
          </a:p>
        </p:txBody>
      </p:sp>
      <p:sp>
        <p:nvSpPr>
          <p:cNvPr id="7" name="Connector 6">
            <a:extLst xmlns:a="http://schemas.openxmlformats.org/drawingml/2006/main">
              <a:ext uri="{FF2B5EF4-FFF2-40B4-BE49-F238E27FC236}">
                <a16:creationId xmlns:a16="http://schemas.microsoft.com/office/drawing/2014/main" id="{19893801-D703-4569-A734-42A9873D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3063240"/>
            <a:ext cx="329183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64DEB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B2F6EBF7-0BA6-482F-8472-6A7D58A07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1" y="2468880"/>
            <a:ext cx="1938528" cy="1188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43449"/>
          </a:solidFill>
          <a:ln xmlns:a="http://schemas.openxmlformats.org/drawingml/2006/main">
            <a:solidFill>
              <a:srgbClr val="64DEB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C0C164B-B2AB-4875-9CE2-7D81AC155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633472"/>
            <a:ext cx="1792224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1900" b="0">
                <a:solidFill>
                  <a:srgbClr val="F1F5FA"/>
                </a:solidFill>
                <a:latin typeface="Aptos"/>
                <a:ea typeface="Aptos"/>
                <a:cs typeface="Aptos"/>
              </a:defRPr>
            </a:pPr>
            <a:r>
              <a:t>Mongo query</a:t>
            </a:r>
          </a:p>
          <a:p xmlns:a="http://schemas.openxmlformats.org/drawingml/2006/main">
            <a:pPr>
              <a:spcAft>
                <a:spcPts val="1400"/>
              </a:spcAft>
              <a:buNone/>
              <a:defRPr sz="1900" b="0">
                <a:solidFill>
                  <a:srgbClr val="F1F5FA"/>
                </a:solidFill>
                <a:latin typeface="Aptos"/>
                <a:ea typeface="Aptos"/>
                <a:cs typeface="Aptos"/>
              </a:defRPr>
            </a:pPr>
            <a:r>
              <a:t>with ACL</a:t>
            </a:r>
          </a:p>
        </p:txBody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60341E9E-8467-462E-904B-336D6EDE7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063240"/>
            <a:ext cx="329184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64DEB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FD5CB14E-E0FA-4A88-96D9-A884DAA2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504" y="2468880"/>
            <a:ext cx="1938528" cy="1188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43449"/>
          </a:solidFill>
          <a:ln xmlns:a="http://schemas.openxmlformats.org/drawingml/2006/main">
            <a:solidFill>
              <a:srgbClr val="64DEB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9D7DF83-2A17-46C7-A1D0-035E893A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656" y="2633472"/>
            <a:ext cx="1792224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1900" b="0">
                <a:solidFill>
                  <a:srgbClr val="F1F5FA"/>
                </a:solidFill>
                <a:latin typeface="Aptos"/>
                <a:ea typeface="Aptos"/>
                <a:cs typeface="Aptos"/>
              </a:defRPr>
            </a:pPr>
            <a:r>
              <a:t>Fresh ACL +</a:t>
            </a:r>
          </a:p>
          <a:p xmlns:a="http://schemas.openxmlformats.org/drawingml/2006/main">
            <a:pPr>
              <a:spcAft>
                <a:spcPts val="1400"/>
              </a:spcAft>
              <a:buNone/>
              <a:defRPr sz="1900" b="0">
                <a:solidFill>
                  <a:srgbClr val="F1F5FA"/>
                </a:solidFill>
                <a:latin typeface="Aptos"/>
                <a:ea typeface="Aptos"/>
                <a:cs typeface="Aptos"/>
              </a:defRPr>
            </a:pPr>
            <a:r>
              <a:t>content hash</a:t>
            </a:r>
          </a:p>
        </p:txBody>
      </p:sp>
      <p:sp>
        <p:nvSpPr>
          <p:cNvPr id="13" name="Connector 12">
            <a:extLst xmlns:a="http://schemas.openxmlformats.org/drawingml/2006/main">
              <a:ext uri="{FF2B5EF4-FFF2-40B4-BE49-F238E27FC236}">
                <a16:creationId xmlns:a16="http://schemas.microsoft.com/office/drawing/2014/main" id="{C8FD9135-5304-4160-85DE-BC664F831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3063240"/>
            <a:ext cx="329184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64DEB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D3FAC365-CB3C-40B5-83B3-569F3198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3215" y="2468880"/>
            <a:ext cx="1938528" cy="1188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43449"/>
          </a:solidFill>
          <a:ln xmlns:a="http://schemas.openxmlformats.org/drawingml/2006/main">
            <a:solidFill>
              <a:srgbClr val="64DEB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71B3AC4-8C91-4202-B37A-413F9F5E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367" y="2633472"/>
            <a:ext cx="1792224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1900" b="0">
                <a:solidFill>
                  <a:srgbClr val="F1F5FA"/>
                </a:solidFill>
                <a:latin typeface="Aptos"/>
                <a:ea typeface="Aptos"/>
                <a:cs typeface="Aptos"/>
              </a:defRPr>
            </a:pPr>
            <a:r>
              <a:t>Outbound scan</a:t>
            </a:r>
          </a:p>
          <a:p xmlns:a="http://schemas.openxmlformats.org/drawingml/2006/main">
            <a:pPr>
              <a:spcAft>
                <a:spcPts val="1400"/>
              </a:spcAft>
              <a:buNone/>
              <a:defRPr sz="1900" b="0">
                <a:solidFill>
                  <a:srgbClr val="F1F5FA"/>
                </a:solidFill>
                <a:latin typeface="Aptos"/>
                <a:ea typeface="Aptos"/>
                <a:cs typeface="Aptos"/>
              </a:defRPr>
            </a:pPr>
            <a:r>
              <a:t>callback</a:t>
            </a:r>
          </a:p>
        </p:txBody>
      </p:sp>
      <p:sp>
        <p:nvSpPr>
          <p:cNvPr id="16" name="Connector 15">
            <a:extLst xmlns:a="http://schemas.openxmlformats.org/drawingml/2006/main">
              <a:ext uri="{FF2B5EF4-FFF2-40B4-BE49-F238E27FC236}">
                <a16:creationId xmlns:a16="http://schemas.microsoft.com/office/drawing/2014/main" id="{4C06F79D-CE35-442D-A64D-D8300893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1743" y="3063240"/>
            <a:ext cx="329185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64DEB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3BA4FA40-9A45-4689-9A68-C7D2C0666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928" y="2468880"/>
            <a:ext cx="1938528" cy="1188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43449"/>
          </a:solidFill>
          <a:ln xmlns:a="http://schemas.openxmlformats.org/drawingml/2006/main">
            <a:solidFill>
              <a:srgbClr val="64DEB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8875588F-00BD-4580-8950-8FA6CFB5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2633472"/>
            <a:ext cx="1792224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1900" b="0">
                <a:solidFill>
                  <a:srgbClr val="F1F5FA"/>
                </a:solidFill>
                <a:latin typeface="Aptos"/>
                <a:ea typeface="Aptos"/>
                <a:cs typeface="Aptos"/>
              </a:defRPr>
            </a:pPr>
            <a:r>
              <a:t>Provider +</a:t>
            </a:r>
          </a:p>
          <a:p xmlns:a="http://schemas.openxmlformats.org/drawingml/2006/main">
            <a:pPr>
              <a:spcAft>
                <a:spcPts val="1400"/>
              </a:spcAft>
              <a:buNone/>
              <a:defRPr sz="1900" b="0">
                <a:solidFill>
                  <a:srgbClr val="F1F5FA"/>
                </a:solidFill>
                <a:latin typeface="Aptos"/>
                <a:ea typeface="Aptos"/>
                <a:cs typeface="Aptos"/>
              </a:defRPr>
            </a:pPr>
            <a:r>
              <a:t>output checks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30225AB3-31A9-4E22-A95D-9C62B31C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9120"/>
            <a:ext cx="107899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2400" b="0">
                <a:solidFill>
                  <a:srgbClr val="64DEB1"/>
                </a:solidFill>
                <a:latin typeface="Aptos"/>
                <a:ea typeface="Aptos"/>
                <a:cs typeface="Aptos"/>
              </a:defRPr>
            </a:pPr>
            <a:r>
              <a:t>Approval → current policy and ACL check → outbound scan again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4073D09C-773F-4D59-8573-D3B673CB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107899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1900" b="0">
                <a:solidFill>
                  <a:srgbClr val="B6C3D7"/>
                </a:solidFill>
                <a:latin typeface="Aptos"/>
                <a:ea typeface="Aptos"/>
                <a:cs typeface="Aptos"/>
              </a:defRPr>
            </a:pPr>
            <a:r>
              <a:t>Actual detector callbacks are integrated; the local provider is explicitly simulated.</a:t>
            </a:r>
          </a:p>
        </p:txBody>
      </p:sp>
    </p:spTree>
    <p:extLst>
      <p:ext uri="{BB962C8B-B14F-4D97-AF65-F5344CB8AC3E}">
        <p14:creationId xmlns:p14="http://schemas.microsoft.com/office/powerpoint/2010/main" val="16011379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11B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EFD9694-3243-4A09-BFCB-35D2917A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8912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3600" b="1">
                <a:solidFill>
                  <a:srgbClr val="F1F5FA"/>
                </a:solidFill>
                <a:latin typeface="Aptos"/>
                <a:ea typeface="Aptos"/>
                <a:cs typeface="Aptos"/>
              </a:defRPr>
            </a:pPr>
            <a:r>
              <a:t>Identity and provider permission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21C62C6-01CA-4487-B7FA-5A948D0E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371600"/>
            <a:ext cx="109728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1900" b="0">
                <a:solidFill>
                  <a:srgbClr val="B6C3D7"/>
                </a:solidFill>
                <a:latin typeface="Aptos"/>
                <a:ea typeface="Aptos"/>
                <a:cs typeface="Aptos"/>
              </a:defRPr>
            </a:pPr>
            <a:r>
              <a:t>Read access and external transmission are separate decisions.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B6B2740-DC71-47A6-B1E7-CA5FE251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355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1200" b="0">
                <a:solidFill>
                  <a:srgbClr val="B6C3D7"/>
                </a:solidFill>
                <a:latin typeface="Aptos"/>
                <a:ea typeface="Aptos"/>
                <a:cs typeface="Aptos"/>
              </a:defRPr>
            </a:pPr>
            <a:r>
              <a:t>3</a:t>
            </a:r>
          </a:p>
        </p:txBody>
      </p:sp>
      <p:graphicFrame>
        <p:nvGraphicFramePr>
          <p:cNvPr id="5" name="Table 4">
            <a:extLst xmlns:a="http://schemas.openxmlformats.org/drawingml/2006/main">
              <a:ext uri="{FF2B5EF4-FFF2-40B4-BE49-F238E27FC236}">
                <a16:creationId xmlns:a16="http://schemas.microsoft.com/office/drawing/2014/main" id="{9D0BBC85-FD5F-455C-B6B9-0D1CC93AE999}"/>
              </a:ext>
            </a:extLst>
          </p:cNvPr>
          <p:cNvGraphicFramePr/>
          <p:nvPr/>
        </p:nvGraphicFramePr>
        <p:xfrm>
          <a:off xmlns:a="http://schemas.openxmlformats.org/drawingml/2006/main" x="640080" y="1828800"/>
          <a:ext xmlns:a="http://schemas.openxmlformats.org/drawingml/2006/main" cx="10881360" cy="356616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5943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1">
                          <a:solidFill>
                            <a:srgbClr val="64DEB1"/>
                          </a:solidFill>
                          <a:latin typeface="Aptos"/>
                          <a:ea typeface="Aptos"/>
                          <a:cs typeface="Aptos"/>
                        </a:rPr>
                        <a:t>Scenario</a:t>
                      </a:r>
                    </a:p>
                  </a:txBody>
                  <a:tcPr marL="91440" marR="91440" marT="45720" marB="45720">
                    <a:solidFill>
                      <a:srgbClr val="2434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1">
                          <a:solidFill>
                            <a:srgbClr val="64DEB1"/>
                          </a:solidFill>
                          <a:latin typeface="Aptos"/>
                          <a:ea typeface="Aptos"/>
                          <a:cs typeface="Aptos"/>
                        </a:rPr>
                        <a:t>Expected boundary</a:t>
                      </a:r>
                    </a:p>
                  </a:txBody>
                  <a:tcPr marL="91440" marR="91440" marT="45720" marB="45720">
                    <a:solidFill>
                      <a:srgbClr val="24344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0">
                          <a:solidFill>
                            <a:srgbClr val="F1F5FA"/>
                          </a:solidFill>
                          <a:latin typeface="Aptos"/>
                          <a:ea typeface="Aptos"/>
                          <a:cs typeface="Aptos"/>
                        </a:rPr>
                        <a:t>Asha requests salary bands</a:t>
                      </a:r>
                    </a:p>
                  </a:txBody>
                  <a:tcPr marL="91440" marR="91440" marT="45720" marB="45720">
                    <a:solidFill>
                      <a:srgbClr val="111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0">
                          <a:solidFill>
                            <a:srgbClr val="F1F5FA"/>
                          </a:solidFill>
                          <a:latin typeface="Aptos"/>
                          <a:ea typeface="Aptos"/>
                          <a:cs typeface="Aptos"/>
                        </a:rPr>
                        <a:t>Deny; no restricted title</a:t>
                      </a:r>
                    </a:p>
                  </a:txBody>
                  <a:tcPr marL="91440" marR="91440" marT="45720" marB="45720">
                    <a:solidFill>
                      <a:srgbClr val="111B2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0">
                          <a:solidFill>
                            <a:srgbClr val="F1F5FA"/>
                          </a:solidFill>
                          <a:latin typeface="Aptos"/>
                          <a:ea typeface="Aptos"/>
                          <a:cs typeface="Aptos"/>
                        </a:rPr>
                        <a:t>Ravi requests salary bands</a:t>
                      </a:r>
                    </a:p>
                  </a:txBody>
                  <a:tcPr marL="91440" marR="91440" marT="45720" marB="45720">
                    <a:solidFill>
                      <a:srgbClr val="111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0">
                          <a:solidFill>
                            <a:srgbClr val="F1F5FA"/>
                          </a:solidFill>
                          <a:latin typeface="Aptos"/>
                          <a:ea typeface="Aptos"/>
                          <a:cs typeface="Aptos"/>
                        </a:rPr>
                        <a:t>Permit HR retrieval</a:t>
                      </a:r>
                    </a:p>
                  </a:txBody>
                  <a:tcPr marL="91440" marR="91440" marT="45720" marB="45720">
                    <a:solidFill>
                      <a:srgbClr val="111B2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0">
                          <a:solidFill>
                            <a:srgbClr val="F1F5FA"/>
                          </a:solidFill>
                          <a:latin typeface="Aptos"/>
                          <a:ea typeface="Aptos"/>
                          <a:cs typeface="Aptos"/>
                        </a:rPr>
                        <a:t>Admin requests board minutes</a:t>
                      </a:r>
                    </a:p>
                  </a:txBody>
                  <a:tcPr marL="91440" marR="91440" marT="45720" marB="45720">
                    <a:solidFill>
                      <a:srgbClr val="111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0">
                          <a:solidFill>
                            <a:srgbClr val="F1F5FA"/>
                          </a:solidFill>
                          <a:latin typeface="Aptos"/>
                          <a:ea typeface="Aptos"/>
                          <a:cs typeface="Aptos"/>
                        </a:rPr>
                        <a:t>Deny; no document bypass</a:t>
                      </a:r>
                    </a:p>
                  </a:txBody>
                  <a:tcPr marL="91440" marR="91440" marT="45720" marB="45720">
                    <a:solidFill>
                      <a:srgbClr val="111B2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0">
                          <a:solidFill>
                            <a:srgbClr val="F1F5FA"/>
                          </a:solidFill>
                          <a:latin typeface="Aptos"/>
                          <a:ea typeface="Aptos"/>
                          <a:cs typeface="Aptos"/>
                        </a:rPr>
                        <a:t>CEO requests board minutes</a:t>
                      </a:r>
                    </a:p>
                  </a:txBody>
                  <a:tcPr marL="91440" marR="91440" marT="45720" marB="45720">
                    <a:solidFill>
                      <a:srgbClr val="111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0">
                          <a:solidFill>
                            <a:srgbClr val="F1F5FA"/>
                          </a:solidFill>
                          <a:latin typeface="Aptos"/>
                          <a:ea typeface="Aptos"/>
                          <a:cs typeface="Aptos"/>
                        </a:rPr>
                        <a:t>Read locally; deny cloud send</a:t>
                      </a:r>
                    </a:p>
                  </a:txBody>
                  <a:tcPr marL="91440" marR="91440" marT="45720" marB="45720">
                    <a:solidFill>
                      <a:srgbClr val="111B2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0">
                          <a:solidFill>
                            <a:srgbClr val="F1F5FA"/>
                          </a:solidFill>
                          <a:latin typeface="Aptos"/>
                          <a:ea typeface="Aptos"/>
                          <a:cs typeface="Aptos"/>
                        </a:rPr>
                        <a:t>Meera requests Garuda</a:t>
                      </a:r>
                    </a:p>
                  </a:txBody>
                  <a:tcPr marL="91440" marR="91440" marT="45720" marB="45720">
                    <a:solidFill>
                      <a:srgbClr val="111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0">
                          <a:solidFill>
                            <a:srgbClr val="F1F5FA"/>
                          </a:solidFill>
                          <a:latin typeface="Aptos"/>
                          <a:ea typeface="Aptos"/>
                          <a:cs typeface="Aptos"/>
                        </a:rPr>
                        <a:t>External: approval; local: allow</a:t>
                      </a:r>
                    </a:p>
                  </a:txBody>
                  <a:tcPr marL="91440" marR="91440" marT="45720" marB="45720">
                    <a:solidFill>
                      <a:srgbClr val="111B2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4353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11B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62E87AB-7408-466C-9BEE-8FDB9338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8912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3600" b="1">
                <a:solidFill>
                  <a:srgbClr val="F1F5FA"/>
                </a:solidFill>
                <a:latin typeface="Aptos"/>
                <a:ea typeface="Aptos"/>
                <a:cs typeface="Aptos"/>
              </a:defRPr>
            </a:pPr>
            <a:r>
              <a:t>Quarantine and approvals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EB9997C-ABE6-48FD-BA06-770AE5C8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355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1200" b="0">
                <a:solidFill>
                  <a:srgbClr val="B6C3D7"/>
                </a:solidFill>
                <a:latin typeface="Aptos"/>
                <a:ea typeface="Aptos"/>
                <a:cs typeface="Aptos"/>
              </a:defRPr>
            </a:pPr>
            <a:r>
              <a:t>4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7A2714A-F61F-473A-AE4D-432C8FCF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7360"/>
            <a:ext cx="107899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2700" b="0">
                <a:solidFill>
                  <a:srgbClr val="64DEB1"/>
                </a:solidFill>
                <a:latin typeface="Aptos"/>
                <a:ea typeface="Aptos"/>
                <a:cs typeface="Aptos"/>
              </a:defRPr>
            </a:pPr>
            <a:r>
              <a:t>Ingest source → scan hidden carriers → quarantine whole document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2DFE098-C2E9-434C-9048-828AA9F8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4640"/>
            <a:ext cx="106070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2400" b="0">
                <a:solidFill>
                  <a:srgbClr val="F1F5FA"/>
                </a:solidFill>
                <a:latin typeface="Aptos"/>
                <a:ea typeface="Aptos"/>
                <a:cs typeface="Aptos"/>
              </a:defRPr>
            </a:pPr>
            <a:r>
              <a:t>Comments, hidden CSS, white text, zero-width characters and alt/title attributes are checked before rendering.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B5BFF6E-13D2-489A-A834-6CE7E0F7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97680"/>
            <a:ext cx="1060704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2400" b="0">
                <a:solidFill>
                  <a:srgbClr val="F1F5FA"/>
                </a:solidFill>
                <a:latin typeface="Aptos"/>
                <a:ea typeface="Aptos"/>
                <a:cs typeface="Aptos"/>
              </a:defRPr>
            </a:pPr>
            <a:r>
              <a:t>Pending requests use AES-GCM in memory for ten minutes. Mongo stores metadata and request hash. Approval is single use and rechecks current permissions.</a:t>
            </a:r>
          </a:p>
        </p:txBody>
      </p:sp>
    </p:spTree>
    <p:extLst>
      <p:ext uri="{BB962C8B-B14F-4D97-AF65-F5344CB8AC3E}">
        <p14:creationId xmlns:p14="http://schemas.microsoft.com/office/powerpoint/2010/main" val="2106633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1B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49A956D-549E-4CB6-A226-136FBC1E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8912"/>
            <a:ext cx="109728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3600" b="1">
                <a:solidFill>
                  <a:srgbClr val="F1F5FA"/>
                </a:solidFill>
                <a:latin typeface="Aptos"/>
                <a:ea typeface="Aptos"/>
                <a:cs typeface="Aptos"/>
              </a:defRPr>
            </a:pPr>
            <a:r>
              <a:t>Evidence and validation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186AA0B-577F-47EC-904D-3E41025C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3716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1900" b="0">
                <a:solidFill>
                  <a:srgbClr val="B6C3D7"/>
                </a:solidFill>
                <a:latin typeface="Aptos"/>
                <a:ea typeface="Aptos"/>
                <a:cs typeface="Aptos"/>
              </a:defRPr>
            </a:pPr>
            <a:r>
              <a:t>Current tests and rehearsal; historical local-model evidence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50CF43E-A994-41A7-A54D-9D2BD5EC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355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1200" b="0">
                <a:solidFill>
                  <a:srgbClr val="B6C3D7"/>
                </a:solidFill>
                <a:latin typeface="Aptos"/>
                <a:ea typeface="Aptos"/>
                <a:cs typeface="Aptos"/>
              </a:defRPr>
            </a:pPr>
            <a:r>
              <a:t>5</a:t>
            </a:r>
          </a:p>
        </p:txBody>
      </p:sp>
      <p:graphicFrame>
        <p:nvGraphicFramePr>
          <p:cNvPr id="5" name="Table 4">
            <a:extLst xmlns:a="http://schemas.openxmlformats.org/drawingml/2006/main">
              <a:ext uri="{FF2B5EF4-FFF2-40B4-BE49-F238E27FC236}">
                <a16:creationId xmlns:a16="http://schemas.microsoft.com/office/drawing/2014/main" id="{2EA12794-9129-4DD9-AA3B-C48C2258A05F}"/>
              </a:ext>
            </a:extLst>
          </p:cNvPr>
          <p:cNvGraphicFramePr/>
          <p:nvPr/>
        </p:nvGraphicFramePr>
        <p:xfrm>
          <a:off xmlns:a="http://schemas.openxmlformats.org/drawingml/2006/main" x="640080" y="1828800"/>
          <a:ext xmlns:a="http://schemas.openxmlformats.org/drawingml/2006/main" cx="10881360" cy="29718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5943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1">
                          <a:solidFill>
                            <a:srgbClr val="64DEB1"/>
                          </a:solidFill>
                          <a:latin typeface="Aptos"/>
                          <a:ea typeface="Aptos"/>
                          <a:cs typeface="Aptos"/>
                        </a:rPr>
                        <a:t>Measurement</a:t>
                      </a:r>
                    </a:p>
                  </a:txBody>
                  <a:tcPr marL="91440" marR="91440" marT="45720" marB="45720">
                    <a:solidFill>
                      <a:srgbClr val="2434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1">
                          <a:solidFill>
                            <a:srgbClr val="64DEB1"/>
                          </a:solidFill>
                          <a:latin typeface="Aptos"/>
                          <a:ea typeface="Aptos"/>
                          <a:cs typeface="Aptos"/>
                        </a:rPr>
                        <a:t>Observed</a:t>
                      </a:r>
                    </a:p>
                  </a:txBody>
                  <a:tcPr marL="91440" marR="91440" marT="45720" marB="45720">
                    <a:solidFill>
                      <a:srgbClr val="24344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0">
                          <a:solidFill>
                            <a:srgbClr val="F1F5FA"/>
                          </a:solidFill>
                          <a:latin typeface="Aptos"/>
                          <a:ea typeface="Aptos"/>
                          <a:cs typeface="Aptos"/>
                        </a:rPr>
                        <a:t>Current combined tests</a:t>
                      </a:r>
                    </a:p>
                  </a:txBody>
                  <a:tcPr marL="91440" marR="91440" marT="45720" marB="45720">
                    <a:solidFill>
                      <a:srgbClr val="111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0">
                          <a:solidFill>
                            <a:srgbClr val="F1F5FA"/>
                          </a:solidFill>
                          <a:latin typeface="Aptos"/>
                          <a:ea typeface="Aptos"/>
                          <a:cs typeface="Aptos"/>
                        </a:rPr>
                        <a:t>414 + 53 passed</a:t>
                      </a:r>
                    </a:p>
                  </a:txBody>
                  <a:tcPr marL="91440" marR="91440" marT="45720" marB="45720">
                    <a:solidFill>
                      <a:srgbClr val="111B2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0">
                          <a:solidFill>
                            <a:srgbClr val="F1F5FA"/>
                          </a:solidFill>
                          <a:latin typeface="Aptos"/>
                          <a:ea typeface="Aptos"/>
                          <a:cs typeface="Aptos"/>
                        </a:rPr>
                        <a:t>Current real Groq boundaries</a:t>
                      </a:r>
                    </a:p>
                  </a:txBody>
                  <a:tcPr marL="91440" marR="91440" marT="45720" marB="45720">
                    <a:solidFill>
                      <a:srgbClr val="111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0">
                          <a:solidFill>
                            <a:srgbClr val="F1F5FA"/>
                          </a:solidFill>
                          <a:latin typeface="Aptos"/>
                          <a:ea typeface="Aptos"/>
                          <a:cs typeface="Aptos"/>
                        </a:rPr>
                        <a:t>8/8 checks; 4 actual model calls</a:t>
                      </a:r>
                    </a:p>
                  </a:txBody>
                  <a:tcPr marL="91440" marR="91440" marT="45720" marB="45720">
                    <a:solidFill>
                      <a:srgbClr val="111B2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0">
                          <a:solidFill>
                            <a:srgbClr val="F1F5FA"/>
                          </a:solidFill>
                          <a:latin typeface="Aptos"/>
                          <a:ea typeface="Aptos"/>
                          <a:cs typeface="Aptos"/>
                        </a:rPr>
                        <a:t>Historical fixture labels</a:t>
                      </a:r>
                    </a:p>
                  </a:txBody>
                  <a:tcPr marL="91440" marR="91440" marT="45720" marB="45720">
                    <a:solidFill>
                      <a:srgbClr val="111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0">
                          <a:solidFill>
                            <a:srgbClr val="F1F5FA"/>
                          </a:solidFill>
                          <a:latin typeface="Aptos"/>
                          <a:ea typeface="Aptos"/>
                          <a:cs typeface="Aptos"/>
                        </a:rPr>
                        <a:t>4/31 matched; not accuracy pass</a:t>
                      </a:r>
                    </a:p>
                  </a:txBody>
                  <a:tcPr marL="91440" marR="91440" marT="45720" marB="45720">
                    <a:solidFill>
                      <a:srgbClr val="111B2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0">
                          <a:solidFill>
                            <a:srgbClr val="F1F5FA"/>
                          </a:solidFill>
                          <a:latin typeface="Aptos"/>
                          <a:ea typeface="Aptos"/>
                          <a:cs typeface="Aptos"/>
                        </a:rPr>
                        <a:t>Current UI rehearsal</a:t>
                      </a:r>
                    </a:p>
                  </a:txBody>
                  <a:tcPr marL="91440" marR="91440" marT="45720" marB="45720">
                    <a:solidFill>
                      <a:srgbClr val="111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0">
                          <a:solidFill>
                            <a:srgbClr val="F1F5FA"/>
                          </a:solidFill>
                          <a:latin typeface="Aptos"/>
                          <a:ea typeface="Aptos"/>
                          <a:cs typeface="Aptos"/>
                        </a:rPr>
                        <a:t>Mask + approval + live eval</a:t>
                      </a:r>
                    </a:p>
                  </a:txBody>
                  <a:tcPr marL="91440" marR="91440" marT="45720" marB="45720">
                    <a:solidFill>
                      <a:srgbClr val="111B2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2135FDA-9A95-458F-BA58-8D6C7B97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4960"/>
            <a:ext cx="10698480" cy="67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1900" b="0">
                <a:solidFill>
                  <a:srgbClr val="B6C3D7"/>
                </a:solidFill>
                <a:latin typeface="Aptos"/>
                <a:ea typeface="Aptos"/>
                <a:cs typeface="Aptos"/>
              </a:defRPr>
            </a:pPr>
            <a:r>
              <a:t>Simulated evaluation has recorded misses and a provider leak. No coordinated freeze or final model-backed benchmark is claimed.</a:t>
            </a:r>
          </a:p>
        </p:txBody>
      </p:sp>
    </p:spTree>
    <p:extLst>
      <p:ext uri="{BB962C8B-B14F-4D97-AF65-F5344CB8AC3E}">
        <p14:creationId xmlns:p14="http://schemas.microsoft.com/office/powerpoint/2010/main" val="7671588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11B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57434A9-D8F3-4918-A81E-25649266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8912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3600" b="1">
                <a:solidFill>
                  <a:srgbClr val="F1F5FA"/>
                </a:solidFill>
                <a:latin typeface="Aptos"/>
                <a:ea typeface="Aptos"/>
                <a:cs typeface="Aptos"/>
              </a:defRPr>
            </a:pPr>
            <a:r>
              <a:t>Classifier feasibility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B0A1CB5-2FEC-4FBA-89C7-93B7781E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3716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1900" b="0">
                <a:solidFill>
                  <a:srgbClr val="B6C3D7"/>
                </a:solidFill>
                <a:latin typeface="Aptos"/>
                <a:ea typeface="Aptos"/>
                <a:cs typeface="Aptos"/>
              </a:defRPr>
            </a:pPr>
            <a:r>
              <a:t>Historical feasibility only; production gateway refuses int8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4D9F907-0FF5-4C57-90F2-BF6FDC732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355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1200" b="0">
                <a:solidFill>
                  <a:srgbClr val="B6C3D7"/>
                </a:solidFill>
                <a:latin typeface="Aptos"/>
                <a:ea typeface="Aptos"/>
                <a:cs typeface="Aptos"/>
              </a:defRPr>
            </a:pPr>
            <a:r>
              <a:t>6</a:t>
            </a:r>
          </a:p>
        </p:txBody>
      </p:sp>
      <p:graphicFrame>
        <p:nvGraphicFramePr>
          <p:cNvPr id="5" name="Table 4">
            <a:extLst xmlns:a="http://schemas.openxmlformats.org/drawingml/2006/main">
              <a:ext uri="{FF2B5EF4-FFF2-40B4-BE49-F238E27FC236}">
                <a16:creationId xmlns:a16="http://schemas.microsoft.com/office/drawing/2014/main" id="{B20D4CB2-4E47-406C-B8A6-D1EFBA7DE47E}"/>
              </a:ext>
            </a:extLst>
          </p:cNvPr>
          <p:cNvGraphicFramePr/>
          <p:nvPr/>
        </p:nvGraphicFramePr>
        <p:xfrm>
          <a:off xmlns:a="http://schemas.openxmlformats.org/drawingml/2006/main" x="640080" y="2011680"/>
          <a:ext xmlns:a="http://schemas.openxmlformats.org/drawingml/2006/main" cx="10881360" cy="178308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5943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1">
                          <a:solidFill>
                            <a:srgbClr val="64DEB1"/>
                          </a:solidFill>
                          <a:latin typeface="Aptos"/>
                          <a:ea typeface="Aptos"/>
                          <a:cs typeface="Aptos"/>
                        </a:rPr>
                        <a:t>Variant</a:t>
                      </a:r>
                    </a:p>
                  </a:txBody>
                  <a:tcPr marL="91440" marR="91440" marT="45720" marB="45720">
                    <a:solidFill>
                      <a:srgbClr val="2434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1">
                          <a:solidFill>
                            <a:srgbClr val="64DEB1"/>
                          </a:solidFill>
                          <a:latin typeface="Aptos"/>
                          <a:ea typeface="Aptos"/>
                          <a:cs typeface="Aptos"/>
                        </a:rPr>
                        <a:t>Warm p50</a:t>
                      </a:r>
                    </a:p>
                  </a:txBody>
                  <a:tcPr marL="91440" marR="91440" marT="45720" marB="45720">
                    <a:solidFill>
                      <a:srgbClr val="2434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1">
                          <a:solidFill>
                            <a:srgbClr val="64DEB1"/>
                          </a:solidFill>
                          <a:latin typeface="Aptos"/>
                          <a:ea typeface="Aptos"/>
                          <a:cs typeface="Aptos"/>
                        </a:rPr>
                        <a:t>Warm p95</a:t>
                      </a:r>
                    </a:p>
                  </a:txBody>
                  <a:tcPr marL="91440" marR="91440" marT="45720" marB="45720">
                    <a:solidFill>
                      <a:srgbClr val="24344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0">
                          <a:solidFill>
                            <a:srgbClr val="F1F5FA"/>
                          </a:solidFill>
                          <a:latin typeface="Aptos"/>
                          <a:ea typeface="Aptos"/>
                          <a:cs typeface="Aptos"/>
                        </a:rPr>
                        <a:t>fp32</a:t>
                      </a:r>
                    </a:p>
                  </a:txBody>
                  <a:tcPr marL="91440" marR="91440" marT="45720" marB="45720">
                    <a:solidFill>
                      <a:srgbClr val="111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0">
                          <a:solidFill>
                            <a:srgbClr val="F1F5FA"/>
                          </a:solidFill>
                          <a:latin typeface="Aptos"/>
                          <a:ea typeface="Aptos"/>
                          <a:cs typeface="Aptos"/>
                        </a:rPr>
                        <a:t>10.44 ms</a:t>
                      </a:r>
                    </a:p>
                  </a:txBody>
                  <a:tcPr marL="91440" marR="91440" marT="45720" marB="45720">
                    <a:solidFill>
                      <a:srgbClr val="111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0">
                          <a:solidFill>
                            <a:srgbClr val="F1F5FA"/>
                          </a:solidFill>
                          <a:latin typeface="Aptos"/>
                          <a:ea typeface="Aptos"/>
                          <a:cs typeface="Aptos"/>
                        </a:rPr>
                        <a:t>11.97 ms</a:t>
                      </a:r>
                    </a:p>
                  </a:txBody>
                  <a:tcPr marL="91440" marR="91440" marT="45720" marB="45720">
                    <a:solidFill>
                      <a:srgbClr val="111B2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0">
                          <a:solidFill>
                            <a:srgbClr val="F1F5FA"/>
                          </a:solidFill>
                          <a:latin typeface="Aptos"/>
                          <a:ea typeface="Aptos"/>
                          <a:cs typeface="Aptos"/>
                        </a:rPr>
                        <a:t>q8</a:t>
                      </a:r>
                    </a:p>
                  </a:txBody>
                  <a:tcPr marL="91440" marR="91440" marT="45720" marB="45720">
                    <a:solidFill>
                      <a:srgbClr val="111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0">
                          <a:solidFill>
                            <a:srgbClr val="F1F5FA"/>
                          </a:solidFill>
                          <a:latin typeface="Aptos"/>
                          <a:ea typeface="Aptos"/>
                          <a:cs typeface="Aptos"/>
                        </a:rPr>
                        <a:t>6.35 ms</a:t>
                      </a:r>
                    </a:p>
                  </a:txBody>
                  <a:tcPr marL="91440" marR="91440" marT="45720" marB="45720">
                    <a:solidFill>
                      <a:srgbClr val="111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0">
                          <a:solidFill>
                            <a:srgbClr val="F1F5FA"/>
                          </a:solidFill>
                          <a:latin typeface="Aptos"/>
                          <a:ea typeface="Aptos"/>
                          <a:cs typeface="Aptos"/>
                        </a:rPr>
                        <a:t>7.96 ms</a:t>
                      </a:r>
                    </a:p>
                  </a:txBody>
                  <a:tcPr marL="91440" marR="91440" marT="45720" marB="45720">
                    <a:solidFill>
                      <a:srgbClr val="111B2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DE53B42-E97E-434A-BC1D-70EC3089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106984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2500" b="0">
                <a:solidFill>
                  <a:srgbClr val="64DEB1"/>
                </a:solidFill>
                <a:latin typeface="Aptos"/>
                <a:ea typeface="Aptos"/>
                <a:cs typeface="Aptos"/>
              </a:defRPr>
            </a:pPr>
            <a:r>
              <a:t>Node works. Full precision loads directly upstream; int8 was generated locally. A sidecar was unnecessary.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30F5287-F9AE-431E-8D9A-D9261C28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0680"/>
            <a:ext cx="106984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1900" b="0">
                <a:solidFill>
                  <a:srgbClr val="B6C3D7"/>
                </a:solidFill>
                <a:latin typeface="Aptos"/>
                <a:ea typeface="Aptos"/>
                <a:cs typeface="Aptos"/>
              </a:defRPr>
            </a:pPr>
            <a:r>
              <a:t>Six short development prompts, three rounds; first round excluded. No long-window or Hinglish accuracy claim.</a:t>
            </a:r>
          </a:p>
        </p:txBody>
      </p:sp>
    </p:spTree>
    <p:extLst>
      <p:ext uri="{BB962C8B-B14F-4D97-AF65-F5344CB8AC3E}">
        <p14:creationId xmlns:p14="http://schemas.microsoft.com/office/powerpoint/2010/main" val="9640351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11B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89B8768-3EA8-4927-A69D-D55694F0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8912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3600" b="1">
                <a:solidFill>
                  <a:srgbClr val="F1F5FA"/>
                </a:solidFill>
                <a:latin typeface="Aptos"/>
                <a:ea typeface="Aptos"/>
                <a:cs typeface="Aptos"/>
              </a:defRPr>
            </a:pPr>
            <a:r>
              <a:t>DPDP Act: control mapping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9772A06-6DD5-4C54-A6B2-F32B820F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371600"/>
            <a:ext cx="109728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1900" b="0">
                <a:solidFill>
                  <a:srgbClr val="B6C3D7"/>
                </a:solidFill>
                <a:latin typeface="Aptos"/>
                <a:ea typeface="Aptos"/>
                <a:cs typeface="Aptos"/>
              </a:defRPr>
            </a:pPr>
            <a:r>
              <a:t>Technical alignment; this demo does not establish legal compliance.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93A9E0C-7B91-4A7A-8DBF-10C38C10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355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1200" b="0">
                <a:solidFill>
                  <a:srgbClr val="B6C3D7"/>
                </a:solidFill>
                <a:latin typeface="Aptos"/>
                <a:ea typeface="Aptos"/>
                <a:cs typeface="Aptos"/>
              </a:defRPr>
            </a:pPr>
            <a:r>
              <a:t>7</a:t>
            </a:r>
          </a:p>
        </p:txBody>
      </p:sp>
      <p:graphicFrame>
        <p:nvGraphicFramePr>
          <p:cNvPr id="5" name="Table 4">
            <a:extLst xmlns:a="http://schemas.openxmlformats.org/drawingml/2006/main">
              <a:ext uri="{FF2B5EF4-FFF2-40B4-BE49-F238E27FC236}">
                <a16:creationId xmlns:a16="http://schemas.microsoft.com/office/drawing/2014/main" id="{C1AFF868-CC1F-45DF-A1EE-EA9A26788192}"/>
              </a:ext>
            </a:extLst>
          </p:cNvPr>
          <p:cNvGraphicFramePr/>
          <p:nvPr/>
        </p:nvGraphicFramePr>
        <p:xfrm>
          <a:off xmlns:a="http://schemas.openxmlformats.org/drawingml/2006/main" x="640080" y="1828800"/>
          <a:ext xmlns:a="http://schemas.openxmlformats.org/drawingml/2006/main" cx="10881360" cy="29718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5943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1">
                          <a:solidFill>
                            <a:srgbClr val="64DEB1"/>
                          </a:solidFill>
                          <a:latin typeface="Aptos"/>
                          <a:ea typeface="Aptos"/>
                          <a:cs typeface="Aptos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2434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1">
                          <a:solidFill>
                            <a:srgbClr val="64DEB1"/>
                          </a:solidFill>
                          <a:latin typeface="Aptos"/>
                          <a:ea typeface="Aptos"/>
                          <a:cs typeface="Aptos"/>
                        </a:rPr>
                        <a:t>Act reference</a:t>
                      </a:r>
                    </a:p>
                  </a:txBody>
                  <a:tcPr marL="91440" marR="91440" marT="45720" marB="45720">
                    <a:solidFill>
                      <a:srgbClr val="24344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0">
                          <a:solidFill>
                            <a:srgbClr val="F1F5FA"/>
                          </a:solidFill>
                          <a:latin typeface="Aptos"/>
                          <a:ea typeface="Aptos"/>
                          <a:cs typeface="Aptos"/>
                        </a:rPr>
                        <a:t>Limit outbound personal data</a:t>
                      </a:r>
                    </a:p>
                  </a:txBody>
                  <a:tcPr marL="91440" marR="91440" marT="45720" marB="45720">
                    <a:solidFill>
                      <a:srgbClr val="111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0">
                          <a:solidFill>
                            <a:srgbClr val="F1F5FA"/>
                          </a:solidFill>
                          <a:latin typeface="Aptos"/>
                          <a:ea typeface="Aptos"/>
                          <a:cs typeface="Aptos"/>
                        </a:rPr>
                        <a:t>Section 6(1): consent and necessary data</a:t>
                      </a:r>
                    </a:p>
                  </a:txBody>
                  <a:tcPr marL="91440" marR="91440" marT="45720" marB="45720">
                    <a:solidFill>
                      <a:srgbClr val="111B2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0">
                          <a:solidFill>
                            <a:srgbClr val="F1F5FA"/>
                          </a:solidFill>
                          <a:latin typeface="Aptos"/>
                          <a:ea typeface="Aptos"/>
                          <a:cs typeface="Aptos"/>
                        </a:rPr>
                        <a:t>ACLs and disclosure blocking</a:t>
                      </a:r>
                    </a:p>
                  </a:txBody>
                  <a:tcPr marL="91440" marR="91440" marT="45720" marB="45720">
                    <a:solidFill>
                      <a:srgbClr val="111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0">
                          <a:solidFill>
                            <a:srgbClr val="F1F5FA"/>
                          </a:solidFill>
                          <a:latin typeface="Aptos"/>
                          <a:ea typeface="Aptos"/>
                          <a:cs typeface="Aptos"/>
                        </a:rPr>
                        <a:t>Section 8(5): security safeguards</a:t>
                      </a:r>
                    </a:p>
                  </a:txBody>
                  <a:tcPr marL="91440" marR="91440" marT="45720" marB="45720">
                    <a:solidFill>
                      <a:srgbClr val="111B2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0">
                          <a:solidFill>
                            <a:srgbClr val="F1F5FA"/>
                          </a:solidFill>
                          <a:latin typeface="Aptos"/>
                          <a:ea typeface="Aptos"/>
                          <a:cs typeface="Aptos"/>
                        </a:rPr>
                        <a:t>Incident evidence supports review</a:t>
                      </a:r>
                    </a:p>
                  </a:txBody>
                  <a:tcPr marL="91440" marR="91440" marT="45720" marB="45720">
                    <a:solidFill>
                      <a:srgbClr val="111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0">
                          <a:solidFill>
                            <a:srgbClr val="F1F5FA"/>
                          </a:solidFill>
                          <a:latin typeface="Aptos"/>
                          <a:ea typeface="Aptos"/>
                          <a:cs typeface="Aptos"/>
                        </a:rPr>
                        <a:t>Section 8(6): breach intimation</a:t>
                      </a:r>
                    </a:p>
                  </a:txBody>
                  <a:tcPr marL="91440" marR="91440" marT="45720" marB="45720">
                    <a:solidFill>
                      <a:srgbClr val="111B2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0">
                          <a:solidFill>
                            <a:srgbClr val="F1F5FA"/>
                          </a:solidFill>
                          <a:latin typeface="Aptos"/>
                          <a:ea typeface="Aptos"/>
                          <a:cs typeface="Aptos"/>
                        </a:rPr>
                        <a:t>Expiry and deletion controls</a:t>
                      </a:r>
                    </a:p>
                  </a:txBody>
                  <a:tcPr marL="91440" marR="91440" marT="45720" marB="45720">
                    <a:solidFill>
                      <a:srgbClr val="111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0">
                          <a:solidFill>
                            <a:srgbClr val="F1F5FA"/>
                          </a:solidFill>
                          <a:latin typeface="Aptos"/>
                          <a:ea typeface="Aptos"/>
                          <a:cs typeface="Aptos"/>
                        </a:rPr>
                        <a:t>Section 8(7): erasure obligations</a:t>
                      </a:r>
                    </a:p>
                  </a:txBody>
                  <a:tcPr marL="91440" marR="91440" marT="45720" marB="45720">
                    <a:solidFill>
                      <a:srgbClr val="111B2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27E0796-8598-4A94-A0A6-68C70179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4960"/>
            <a:ext cx="106984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1900" b="0">
                <a:solidFill>
                  <a:srgbClr val="B6C3D7"/>
                </a:solidFill>
                <a:latin typeface="Aptos"/>
                <a:ea typeface="Aptos"/>
                <a:cs typeface="Aptos"/>
              </a:defRPr>
            </a:pPr>
            <a:r>
              <a:t>These provisions have phased commencement; as of 15 Oct 2026, the cited substantive duties are scheduled for 13 May 2027.</a:t>
            </a:r>
          </a:p>
        </p:txBody>
      </p:sp>
    </p:spTree>
    <p:extLst>
      <p:ext uri="{BB962C8B-B14F-4D97-AF65-F5344CB8AC3E}">
        <p14:creationId xmlns:p14="http://schemas.microsoft.com/office/powerpoint/2010/main" val="9185224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11B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AF21FE4-F8DE-4C59-A091-C1C7C50E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8912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3600" b="1">
                <a:solidFill>
                  <a:srgbClr val="F1F5FA"/>
                </a:solidFill>
                <a:latin typeface="Aptos"/>
                <a:ea typeface="Aptos"/>
                <a:cs typeface="Aptos"/>
              </a:defRPr>
            </a:pPr>
            <a:r>
              <a:t>Integration limits and next gates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C9086D1-9D07-4FD3-AD37-34F09150E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355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1200" b="0">
                <a:solidFill>
                  <a:srgbClr val="B6C3D7"/>
                </a:solidFill>
                <a:latin typeface="Aptos"/>
                <a:ea typeface="Aptos"/>
                <a:cs typeface="Aptos"/>
              </a:defRPr>
            </a:pPr>
            <a:r>
              <a:t>8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22BE2FA-D0D3-43DD-8310-3E7C6DC0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7360"/>
            <a:ext cx="1078992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2700" b="0">
                <a:solidFill>
                  <a:srgbClr val="64DEB1"/>
                </a:solidFill>
                <a:latin typeface="Aptos"/>
                <a:ea typeface="Aptos"/>
                <a:cs typeface="Aptos"/>
              </a:defRPr>
            </a:pPr>
            <a:r>
              <a:t>Verified: document attachments, ACL-safe approval polling, production tests and simulated UI rehearsal.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CA2E536-D1FF-42EB-B2F0-D9216951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0789920" cy="853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2500" b="0">
                <a:solidFill>
                  <a:srgbClr val="F1F5FA"/>
                </a:solidFill>
                <a:latin typeface="Aptos"/>
                <a:ea typeface="Aptos"/>
                <a:cs typeface="Aptos"/>
              </a:defRPr>
            </a:pPr>
            <a:r>
              <a:t>Remaining: Ojaswi freeze coordination, real-model final evaluation, Groq account verification and Docker rehearsal.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9B87BBA-71F6-485B-A5A3-1C407336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07899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2300" b="0">
                <a:solidFill>
                  <a:srgbClr val="B6C3D7"/>
                </a:solidFill>
                <a:latin typeface="Aptos"/>
                <a:ea typeface="Aptos"/>
                <a:cs typeface="Aptos"/>
              </a:defRPr>
            </a:pPr>
            <a:r>
              <a:t>Approved content reaches Groq. Fingerprints catch copying, not paraphrases. Team Groq settings still need account verification.</a:t>
            </a:r>
          </a:p>
        </p:txBody>
      </p:sp>
    </p:spTree>
    <p:extLst>
      <p:ext uri="{BB962C8B-B14F-4D97-AF65-F5344CB8AC3E}">
        <p14:creationId xmlns:p14="http://schemas.microsoft.com/office/powerpoint/2010/main" val="128958426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2026-10-15T10:27:15.1400000Z</dcterms:created>
  <dcterms:modified xsi:type="dcterms:W3CDTF">2026-10-15T10:27:15.1400000Z</dcterms:modified>
</coreProperties>
</file>